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Lst>
  <p:sldSz cy="5143500" cx="9144000"/>
  <p:notesSz cx="6858000" cy="9144000"/>
  <p:embeddedFontLst>
    <p:embeddedFont>
      <p:font typeface="Roboto Mono"/>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9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285D5DB-B530-4C2D-8D7B-68AB4FBAC7CB}">
  <a:tblStyle styleId="{E285D5DB-B530-4C2D-8D7B-68AB4FBAC7C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96" orient="horz"/>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font" Target="fonts/RobotoMono-bold.fntdata"/><Relationship Id="rId14" Type="http://schemas.openxmlformats.org/officeDocument/2006/relationships/font" Target="fonts/RobotoMono-regular.fntdata"/><Relationship Id="rId17" Type="http://schemas.openxmlformats.org/officeDocument/2006/relationships/font" Target="fonts/RobotoMono-boldItalic.fntdata"/><Relationship Id="rId16" Type="http://schemas.openxmlformats.org/officeDocument/2006/relationships/font" Target="fonts/RobotoMon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b07a5f951a_5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b07a5f951a_5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"Hello, we're Team 7. Our team includes Joshua Lee, Pranshu Swaroop, Samritha, Shravani. We built a cloud-native epidemic monitoring platform using NiFi, Kafka, Spark, and OpenShift. Here's what we accomplished in Phase 3."</a:t>
            </a:r>
            <a:endParaRPr>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b0989cf174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b0989cf174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Our pipeline has three main stages. We ingest raw Kafka events with NiFi, route them by </a:t>
            </a:r>
            <a:r>
              <a:rPr lang="en">
                <a:solidFill>
                  <a:srgbClr val="188038"/>
                </a:solidFill>
                <a:latin typeface="Roboto Mono"/>
                <a:ea typeface="Roboto Mono"/>
                <a:cs typeface="Roboto Mono"/>
                <a:sym typeface="Roboto Mono"/>
              </a:rPr>
              <a:t>event_type</a:t>
            </a:r>
            <a:r>
              <a:rPr lang="en">
                <a:solidFill>
                  <a:schemeClr val="dk1"/>
                </a:solidFill>
              </a:rPr>
              <a:t>, and republish them for Spark analytics. Spark runs multiple analytics which is then posted to postgres for furter feature implementation. This including alerting (slack webhook), anomaly detection, and outbreak prediction (random forest), and writes results to Postgres. We then use Jupyter on top of Postgres for visualization and model comparison, including extra credit ML. Lastly, Grafana monitors data quality, and anomaly strength over time to detect instability and drift.</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b0989cf17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b0989cf17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Our first feature that we implemented was the </a:t>
            </a:r>
            <a:r>
              <a:rPr lang="en">
                <a:solidFill>
                  <a:schemeClr val="dk1"/>
                </a:solidFill>
              </a:rPr>
              <a:t>entirety of phase 1. We ensured that the flow was using processors such as consumekafka, evaluatejsonpath, routeonattribute (event_type), updaterecord (data enrichment), and publish kafka. We ensured this feature was up and running with no errors by checking the data provenance.</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Within our Jupyter Notebook we connected with postgres to grab our temporal data which showed patterns of dates and patients. We did a baseline model which was the rolling average with a window of 5 and trained 2 models which were linear regression and gradient boosting using sklearn. Our metrics were accuracy, RMSE, and MAE.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b0989cf174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b0989cf174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b07a5f951a_5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b07a5f951a_5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00000"/>
              </a:lnSpc>
              <a:spcBef>
                <a:spcPts val="1400"/>
              </a:spcBef>
              <a:spcAft>
                <a:spcPts val="0"/>
              </a:spcAft>
              <a:buClr>
                <a:schemeClr val="dk1"/>
              </a:buClr>
              <a:buSzPts val="1100"/>
              <a:buFont typeface="Arial"/>
              <a:buNone/>
            </a:pPr>
            <a:r>
              <a:rPr b="1" lang="en" sz="1200">
                <a:solidFill>
                  <a:schemeClr val="dk1"/>
                </a:solidFill>
              </a:rPr>
              <a:t>Key Challenges</a:t>
            </a:r>
            <a:endParaRPr b="1" sz="1200">
              <a:solidFill>
                <a:schemeClr val="dk1"/>
              </a:solidFill>
            </a:endParaRPr>
          </a:p>
          <a:p>
            <a:pPr indent="-292100" lvl="0" marL="457200" rtl="0" algn="l">
              <a:lnSpc>
                <a:spcPct val="100000"/>
              </a:lnSpc>
              <a:spcBef>
                <a:spcPts val="1200"/>
              </a:spcBef>
              <a:spcAft>
                <a:spcPts val="0"/>
              </a:spcAft>
              <a:buClr>
                <a:schemeClr val="dk1"/>
              </a:buClr>
              <a:buSzPts val="1000"/>
              <a:buChar char="●"/>
            </a:pPr>
            <a:r>
              <a:rPr lang="en" sz="1000">
                <a:solidFill>
                  <a:schemeClr val="dk1"/>
                </a:solidFill>
              </a:rPr>
              <a:t>Debugging was difficult because data flowed across multiple pods</a:t>
            </a:r>
            <a:br>
              <a:rPr lang="en" sz="1000">
                <a:solidFill>
                  <a:schemeClr val="dk1"/>
                </a:solidFill>
              </a:rPr>
            </a:br>
            <a:endParaRPr sz="1000">
              <a:solidFill>
                <a:schemeClr val="dk1"/>
              </a:solidFill>
            </a:endParaRPr>
          </a:p>
          <a:p>
            <a:pPr indent="-292100" lvl="0" marL="457200" rtl="0" algn="l">
              <a:lnSpc>
                <a:spcPct val="100000"/>
              </a:lnSpc>
              <a:spcBef>
                <a:spcPts val="0"/>
              </a:spcBef>
              <a:spcAft>
                <a:spcPts val="0"/>
              </a:spcAft>
              <a:buClr>
                <a:schemeClr val="dk1"/>
              </a:buClr>
              <a:buSzPts val="1000"/>
              <a:buChar char="●"/>
            </a:pPr>
            <a:r>
              <a:rPr lang="en" sz="1000">
                <a:solidFill>
                  <a:schemeClr val="dk1"/>
                </a:solidFill>
              </a:rPr>
              <a:t>Required checking </a:t>
            </a:r>
            <a:r>
              <a:rPr b="1" lang="en" sz="1000">
                <a:solidFill>
                  <a:schemeClr val="dk1"/>
                </a:solidFill>
              </a:rPr>
              <a:t>pod logs (</a:t>
            </a:r>
            <a:r>
              <a:rPr b="1" lang="en" sz="1000">
                <a:solidFill>
                  <a:srgbClr val="188038"/>
                </a:solidFill>
              </a:rPr>
              <a:t>oc logs</a:t>
            </a:r>
            <a:r>
              <a:rPr b="1" lang="en" sz="1000">
                <a:solidFill>
                  <a:schemeClr val="dk1"/>
                </a:solidFill>
              </a:rPr>
              <a:t>)</a:t>
            </a:r>
            <a:r>
              <a:rPr lang="en" sz="1000">
                <a:solidFill>
                  <a:schemeClr val="dk1"/>
                </a:solidFill>
              </a:rPr>
              <a:t> and manually tracing data from </a:t>
            </a:r>
            <a:r>
              <a:rPr b="1" lang="en" sz="1000">
                <a:solidFill>
                  <a:schemeClr val="dk1"/>
                </a:solidFill>
              </a:rPr>
              <a:t>Kafka topics to database rows</a:t>
            </a:r>
            <a:endParaRPr b="1" sz="1000">
              <a:solidFill>
                <a:schemeClr val="dk1"/>
              </a:solidFill>
            </a:endParaRPr>
          </a:p>
          <a:p>
            <a:pPr indent="0" lvl="0" marL="0" rtl="0" algn="l">
              <a:lnSpc>
                <a:spcPct val="100000"/>
              </a:lnSpc>
              <a:spcBef>
                <a:spcPts val="1400"/>
              </a:spcBef>
              <a:spcAft>
                <a:spcPts val="0"/>
              </a:spcAft>
              <a:buClr>
                <a:schemeClr val="dk1"/>
              </a:buClr>
              <a:buSzPts val="1100"/>
              <a:buFont typeface="Arial"/>
              <a:buNone/>
            </a:pPr>
            <a:r>
              <a:rPr b="1" lang="en" sz="1200">
                <a:solidFill>
                  <a:schemeClr val="dk1"/>
                </a:solidFill>
              </a:rPr>
              <a:t>What We’d Do Differently</a:t>
            </a:r>
            <a:endParaRPr b="1" sz="1200">
              <a:solidFill>
                <a:schemeClr val="dk1"/>
              </a:solidFill>
            </a:endParaRPr>
          </a:p>
          <a:p>
            <a:pPr indent="-292100" lvl="0" marL="457200" rtl="0" algn="l">
              <a:lnSpc>
                <a:spcPct val="100000"/>
              </a:lnSpc>
              <a:spcBef>
                <a:spcPts val="1200"/>
              </a:spcBef>
              <a:spcAft>
                <a:spcPts val="0"/>
              </a:spcAft>
              <a:buClr>
                <a:schemeClr val="dk1"/>
              </a:buClr>
              <a:buSzPts val="1000"/>
              <a:buChar char="●"/>
            </a:pPr>
            <a:r>
              <a:rPr lang="en" sz="1000">
                <a:solidFill>
                  <a:schemeClr val="dk1"/>
                </a:solidFill>
              </a:rPr>
              <a:t>Lock down </a:t>
            </a:r>
            <a:r>
              <a:rPr b="1" lang="en" sz="1000">
                <a:solidFill>
                  <a:schemeClr val="dk1"/>
                </a:solidFill>
              </a:rPr>
              <a:t>schema and topic contracts early</a:t>
            </a:r>
            <a:br>
              <a:rPr b="1" lang="en" sz="1000">
                <a:solidFill>
                  <a:schemeClr val="dk1"/>
                </a:solidFill>
              </a:rPr>
            </a:br>
            <a:endParaRPr b="1" sz="1000">
              <a:solidFill>
                <a:schemeClr val="dk1"/>
              </a:solidFill>
            </a:endParaRPr>
          </a:p>
          <a:p>
            <a:pPr indent="-292100" lvl="0" marL="457200" rtl="0" algn="l">
              <a:lnSpc>
                <a:spcPct val="100000"/>
              </a:lnSpc>
              <a:spcBef>
                <a:spcPts val="0"/>
              </a:spcBef>
              <a:spcAft>
                <a:spcPts val="0"/>
              </a:spcAft>
              <a:buClr>
                <a:schemeClr val="dk1"/>
              </a:buClr>
              <a:buSzPts val="1000"/>
              <a:buChar char="●"/>
            </a:pPr>
            <a:r>
              <a:rPr lang="en" sz="1000">
                <a:solidFill>
                  <a:schemeClr val="dk1"/>
                </a:solidFill>
              </a:rPr>
              <a:t>Clearly define required fields (e.g., </a:t>
            </a:r>
            <a:r>
              <a:rPr lang="en" sz="1000">
                <a:solidFill>
                  <a:srgbClr val="188038"/>
                </a:solidFill>
              </a:rPr>
              <a:t>event_type</a:t>
            </a:r>
            <a:r>
              <a:rPr lang="en" sz="1000">
                <a:solidFill>
                  <a:schemeClr val="dk1"/>
                </a:solidFill>
              </a:rPr>
              <a:t>) to avoid breaking downstream consumers</a:t>
            </a:r>
            <a:endParaRPr sz="1000">
              <a:solidFill>
                <a:schemeClr val="dk1"/>
              </a:solidFill>
            </a:endParaRPr>
          </a:p>
          <a:p>
            <a:pPr indent="0" lvl="0" marL="0" rtl="0" algn="l">
              <a:lnSpc>
                <a:spcPct val="100000"/>
              </a:lnSpc>
              <a:spcBef>
                <a:spcPts val="1400"/>
              </a:spcBef>
              <a:spcAft>
                <a:spcPts val="0"/>
              </a:spcAft>
              <a:buClr>
                <a:schemeClr val="dk1"/>
              </a:buClr>
              <a:buSzPts val="1100"/>
              <a:buFont typeface="Arial"/>
              <a:buNone/>
            </a:pPr>
            <a:r>
              <a:rPr b="1" lang="en" sz="1200">
                <a:solidFill>
                  <a:schemeClr val="dk1"/>
                </a:solidFill>
              </a:rPr>
              <a:t>With More Time</a:t>
            </a:r>
            <a:endParaRPr b="1" sz="1200">
              <a:solidFill>
                <a:schemeClr val="dk1"/>
              </a:solidFill>
            </a:endParaRPr>
          </a:p>
          <a:p>
            <a:pPr indent="-292100" lvl="0" marL="457200" rtl="0" algn="l">
              <a:lnSpc>
                <a:spcPct val="100000"/>
              </a:lnSpc>
              <a:spcBef>
                <a:spcPts val="1200"/>
              </a:spcBef>
              <a:spcAft>
                <a:spcPts val="0"/>
              </a:spcAft>
              <a:buClr>
                <a:schemeClr val="dk1"/>
              </a:buClr>
              <a:buSzPts val="1000"/>
              <a:buChar char="●"/>
            </a:pPr>
            <a:r>
              <a:rPr lang="en" sz="1000">
                <a:solidFill>
                  <a:schemeClr val="dk1"/>
                </a:solidFill>
              </a:rPr>
              <a:t>Improve </a:t>
            </a:r>
            <a:r>
              <a:rPr b="1" lang="en" sz="1000">
                <a:solidFill>
                  <a:schemeClr val="dk1"/>
                </a:solidFill>
              </a:rPr>
              <a:t>reliability and observability</a:t>
            </a:r>
            <a:br>
              <a:rPr b="1" lang="en" sz="1000">
                <a:solidFill>
                  <a:schemeClr val="dk1"/>
                </a:solidFill>
              </a:rPr>
            </a:br>
            <a:endParaRPr b="1" sz="1000">
              <a:solidFill>
                <a:schemeClr val="dk1"/>
              </a:solidFill>
            </a:endParaRPr>
          </a:p>
          <a:p>
            <a:pPr indent="-292100" lvl="0" marL="457200" rtl="0" algn="l">
              <a:lnSpc>
                <a:spcPct val="100000"/>
              </a:lnSpc>
              <a:spcBef>
                <a:spcPts val="0"/>
              </a:spcBef>
              <a:spcAft>
                <a:spcPts val="0"/>
              </a:spcAft>
              <a:buClr>
                <a:schemeClr val="dk1"/>
              </a:buClr>
              <a:buSzPts val="1000"/>
              <a:buChar char="●"/>
            </a:pPr>
            <a:r>
              <a:rPr lang="en" sz="1000">
                <a:solidFill>
                  <a:schemeClr val="dk1"/>
                </a:solidFill>
              </a:rPr>
              <a:t>Add stronger validation, better error handling, and monitoring for </a:t>
            </a:r>
            <a:r>
              <a:rPr b="1" lang="en" sz="1000">
                <a:solidFill>
                  <a:schemeClr val="dk1"/>
                </a:solidFill>
              </a:rPr>
              <a:t>consumer lag</a:t>
            </a:r>
            <a:r>
              <a:rPr lang="en" sz="1000">
                <a:solidFill>
                  <a:schemeClr val="dk1"/>
                </a:solidFill>
              </a:rPr>
              <a:t> and </a:t>
            </a:r>
            <a:r>
              <a:rPr b="1" lang="en" sz="1000">
                <a:solidFill>
                  <a:schemeClr val="dk1"/>
                </a:solidFill>
              </a:rPr>
              <a:t>database writes</a:t>
            </a:r>
            <a:endParaRPr b="1" sz="1000">
              <a:solidFill>
                <a:schemeClr val="dk1"/>
              </a:solidFill>
            </a:endParaRPr>
          </a:p>
          <a:p>
            <a:pPr indent="0" lvl="0" marL="0" rtl="0" algn="l">
              <a:lnSpc>
                <a:spcPct val="100000"/>
              </a:lnSpc>
              <a:spcBef>
                <a:spcPts val="1400"/>
              </a:spcBef>
              <a:spcAft>
                <a:spcPts val="0"/>
              </a:spcAft>
              <a:buNone/>
            </a:pPr>
            <a:r>
              <a:rPr b="1" lang="en" sz="1200">
                <a:solidFill>
                  <a:schemeClr val="dk1"/>
                </a:solidFill>
              </a:rPr>
              <a:t>Recommendation Going Forward</a:t>
            </a:r>
            <a:endParaRPr sz="1000">
              <a:solidFill>
                <a:schemeClr val="dk1"/>
              </a:solidFill>
            </a:endParaRPr>
          </a:p>
          <a:p>
            <a:pPr indent="-292100" lvl="0" marL="457200" rtl="0" algn="l">
              <a:lnSpc>
                <a:spcPct val="100000"/>
              </a:lnSpc>
              <a:spcBef>
                <a:spcPts val="1200"/>
              </a:spcBef>
              <a:spcAft>
                <a:spcPts val="0"/>
              </a:spcAft>
              <a:buClr>
                <a:schemeClr val="dk1"/>
              </a:buClr>
              <a:buSzPts val="1000"/>
              <a:buChar char="●"/>
            </a:pPr>
            <a:r>
              <a:rPr lang="en" sz="1000">
                <a:solidFill>
                  <a:schemeClr val="dk1"/>
                </a:solidFill>
              </a:rPr>
              <a:t>Enable </a:t>
            </a:r>
            <a:r>
              <a:rPr b="1" lang="en" sz="1000">
                <a:solidFill>
                  <a:schemeClr val="dk1"/>
                </a:solidFill>
              </a:rPr>
              <a:t>replayability</a:t>
            </a:r>
            <a:r>
              <a:rPr lang="en" sz="1000">
                <a:solidFill>
                  <a:schemeClr val="dk1"/>
                </a:solidFill>
              </a:rPr>
              <a:t> and add a </a:t>
            </a:r>
            <a:r>
              <a:rPr b="1" lang="en" sz="1000">
                <a:solidFill>
                  <a:schemeClr val="dk1"/>
                </a:solidFill>
              </a:rPr>
              <a:t>trace_id</a:t>
            </a:r>
            <a:r>
              <a:rPr lang="en" sz="1000">
                <a:solidFill>
                  <a:schemeClr val="dk1"/>
                </a:solidFill>
              </a:rPr>
              <a:t> so every event can be followed end-to-end</a:t>
            </a:r>
            <a:endParaRPr sz="1000">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b0e0165beb_1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b0e0165beb_1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b07a5f951a_5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b07a5f951a_5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629000" y="734225"/>
            <a:ext cx="6418800" cy="1353000"/>
          </a:xfrm>
          <a:prstGeom prst="rect">
            <a:avLst/>
          </a:prstGeom>
        </p:spPr>
        <p:txBody>
          <a:bodyPr anchorCtr="0" anchor="ctr" bIns="91425" lIns="91425" spcFirstLastPara="1" rIns="91425" wrap="square" tIns="91425">
            <a:normAutofit fontScale="90000"/>
          </a:bodyPr>
          <a:lstStyle/>
          <a:p>
            <a:pPr indent="0" lvl="0" marL="0" rtl="0" algn="ctr">
              <a:lnSpc>
                <a:spcPct val="100000"/>
              </a:lnSpc>
              <a:spcBef>
                <a:spcPts val="0"/>
              </a:spcBef>
              <a:spcAft>
                <a:spcPts val="0"/>
              </a:spcAft>
              <a:buNone/>
            </a:pPr>
            <a:r>
              <a:rPr b="1" lang="en" sz="3355">
                <a:solidFill>
                  <a:srgbClr val="073763"/>
                </a:solidFill>
                <a:highlight>
                  <a:srgbClr val="FFFFFF"/>
                </a:highlight>
              </a:rPr>
              <a:t>DS551 </a:t>
            </a:r>
            <a:r>
              <a:rPr b="1" lang="en" sz="3355">
                <a:solidFill>
                  <a:srgbClr val="073763"/>
                </a:solidFill>
                <a:highlight>
                  <a:srgbClr val="FFFFFF"/>
                </a:highlight>
              </a:rPr>
              <a:t>Fall 25</a:t>
            </a:r>
            <a:r>
              <a:rPr b="1" lang="en" sz="3355">
                <a:solidFill>
                  <a:srgbClr val="073763"/>
                </a:solidFill>
                <a:highlight>
                  <a:srgbClr val="FFFFFF"/>
                </a:highlight>
              </a:rPr>
              <a:t> - Epidemic Engine</a:t>
            </a:r>
            <a:endParaRPr b="1" sz="3355">
              <a:solidFill>
                <a:srgbClr val="073763"/>
              </a:solidFill>
              <a:highlight>
                <a:srgbClr val="FFFFFF"/>
              </a:highlight>
            </a:endParaRPr>
          </a:p>
          <a:p>
            <a:pPr indent="0" lvl="0" marL="0" rtl="0" algn="ctr">
              <a:lnSpc>
                <a:spcPct val="125000"/>
              </a:lnSpc>
              <a:spcBef>
                <a:spcPts val="0"/>
              </a:spcBef>
              <a:spcAft>
                <a:spcPts val="0"/>
              </a:spcAft>
              <a:buClr>
                <a:schemeClr val="dk1"/>
              </a:buClr>
              <a:buSzPct val="55000"/>
              <a:buFont typeface="Arial"/>
              <a:buNone/>
            </a:pPr>
            <a:r>
              <a:rPr b="1" lang="en" sz="2000">
                <a:solidFill>
                  <a:srgbClr val="20124D"/>
                </a:solidFill>
                <a:highlight>
                  <a:srgbClr val="FFFFFF"/>
                </a:highlight>
              </a:rPr>
              <a:t>(</a:t>
            </a:r>
            <a:r>
              <a:rPr b="1" lang="en" sz="2000">
                <a:solidFill>
                  <a:srgbClr val="20124D"/>
                </a:solidFill>
                <a:highlight>
                  <a:srgbClr val="FFFFFF"/>
                </a:highlight>
              </a:rPr>
              <a:t>Team 07)</a:t>
            </a:r>
            <a:endParaRPr b="1" sz="2000">
              <a:solidFill>
                <a:srgbClr val="20124D"/>
              </a:solidFill>
            </a:endParaRPr>
          </a:p>
        </p:txBody>
      </p:sp>
      <p:sp>
        <p:nvSpPr>
          <p:cNvPr id="55" name="Google Shape;55;p13"/>
          <p:cNvSpPr txBox="1"/>
          <p:nvPr>
            <p:ph idx="1" type="subTitle"/>
          </p:nvPr>
        </p:nvSpPr>
        <p:spPr>
          <a:xfrm>
            <a:off x="629000" y="2461364"/>
            <a:ext cx="3705600" cy="1947900"/>
          </a:xfrm>
          <a:prstGeom prst="rect">
            <a:avLst/>
          </a:prstGeom>
        </p:spPr>
        <p:txBody>
          <a:bodyPr anchorCtr="0" anchor="ctr" bIns="91425" lIns="91425" spcFirstLastPara="1" rIns="91425" wrap="square" tIns="91425">
            <a:normAutofit fontScale="25000" lnSpcReduction="20000"/>
          </a:bodyPr>
          <a:lstStyle/>
          <a:p>
            <a:pPr indent="0" lvl="0" marL="0" rtl="0" algn="l">
              <a:lnSpc>
                <a:spcPct val="115000"/>
              </a:lnSpc>
              <a:spcBef>
                <a:spcPts val="0"/>
              </a:spcBef>
              <a:spcAft>
                <a:spcPts val="0"/>
              </a:spcAft>
              <a:buNone/>
            </a:pPr>
            <a:r>
              <a:rPr b="1" lang="en" sz="7200">
                <a:solidFill>
                  <a:srgbClr val="073763"/>
                </a:solidFill>
                <a:highlight>
                  <a:srgbClr val="FFFFFF"/>
                </a:highlight>
              </a:rPr>
              <a:t>Team Members: </a:t>
            </a:r>
            <a:endParaRPr b="1" sz="7200">
              <a:solidFill>
                <a:srgbClr val="073763"/>
              </a:solidFill>
              <a:highlight>
                <a:srgbClr val="FFFFFF"/>
              </a:highlight>
            </a:endParaRPr>
          </a:p>
          <a:p>
            <a:pPr indent="-317500" lvl="0" marL="457200" rtl="0" algn="l">
              <a:lnSpc>
                <a:spcPct val="115000"/>
              </a:lnSpc>
              <a:spcBef>
                <a:spcPts val="1000"/>
              </a:spcBef>
              <a:spcAft>
                <a:spcPts val="0"/>
              </a:spcAft>
              <a:buClr>
                <a:srgbClr val="073763"/>
              </a:buClr>
              <a:buSzPct val="77777"/>
              <a:buChar char="●"/>
            </a:pPr>
            <a:r>
              <a:rPr b="1" lang="en" sz="7200">
                <a:solidFill>
                  <a:srgbClr val="073763"/>
                </a:solidFill>
                <a:highlight>
                  <a:srgbClr val="FFFFFF"/>
                </a:highlight>
              </a:rPr>
              <a:t>Joshua Lee</a:t>
            </a:r>
            <a:endParaRPr b="1" sz="7200">
              <a:solidFill>
                <a:srgbClr val="073763"/>
              </a:solidFill>
              <a:highlight>
                <a:srgbClr val="FFFFFF"/>
              </a:highlight>
            </a:endParaRPr>
          </a:p>
          <a:p>
            <a:pPr indent="-317500" lvl="0" marL="457200" rtl="0" algn="l">
              <a:lnSpc>
                <a:spcPct val="115000"/>
              </a:lnSpc>
              <a:spcBef>
                <a:spcPts val="0"/>
              </a:spcBef>
              <a:spcAft>
                <a:spcPts val="0"/>
              </a:spcAft>
              <a:buClr>
                <a:srgbClr val="073763"/>
              </a:buClr>
              <a:buSzPct val="77777"/>
              <a:buChar char="●"/>
            </a:pPr>
            <a:r>
              <a:rPr b="1" lang="en" sz="7200">
                <a:solidFill>
                  <a:srgbClr val="073763"/>
                </a:solidFill>
                <a:highlight>
                  <a:srgbClr val="FFFFFF"/>
                </a:highlight>
              </a:rPr>
              <a:t>Pranshu Swaroop</a:t>
            </a:r>
            <a:endParaRPr b="1" sz="7200">
              <a:solidFill>
                <a:srgbClr val="073763"/>
              </a:solidFill>
              <a:highlight>
                <a:srgbClr val="FFFFFF"/>
              </a:highlight>
            </a:endParaRPr>
          </a:p>
          <a:p>
            <a:pPr indent="-317500" lvl="0" marL="457200" rtl="0" algn="l">
              <a:lnSpc>
                <a:spcPct val="115000"/>
              </a:lnSpc>
              <a:spcBef>
                <a:spcPts val="0"/>
              </a:spcBef>
              <a:spcAft>
                <a:spcPts val="0"/>
              </a:spcAft>
              <a:buClr>
                <a:srgbClr val="073763"/>
              </a:buClr>
              <a:buSzPct val="77777"/>
              <a:buChar char="●"/>
            </a:pPr>
            <a:r>
              <a:rPr b="1" lang="en" sz="7200">
                <a:solidFill>
                  <a:srgbClr val="073763"/>
                </a:solidFill>
                <a:highlight>
                  <a:srgbClr val="FFFFFF"/>
                </a:highlight>
              </a:rPr>
              <a:t>Samritha Aadhi Ravikumar</a:t>
            </a:r>
            <a:endParaRPr b="1" sz="7200">
              <a:solidFill>
                <a:srgbClr val="073763"/>
              </a:solidFill>
              <a:highlight>
                <a:srgbClr val="FFFFFF"/>
              </a:highlight>
            </a:endParaRPr>
          </a:p>
          <a:p>
            <a:pPr indent="-317500" lvl="0" marL="457200" rtl="0" algn="l">
              <a:lnSpc>
                <a:spcPct val="115000"/>
              </a:lnSpc>
              <a:spcBef>
                <a:spcPts val="300"/>
              </a:spcBef>
              <a:spcAft>
                <a:spcPts val="0"/>
              </a:spcAft>
              <a:buClr>
                <a:srgbClr val="073763"/>
              </a:buClr>
              <a:buSzPct val="77777"/>
              <a:buChar char="●"/>
            </a:pPr>
            <a:r>
              <a:rPr b="1" lang="en" sz="7200">
                <a:solidFill>
                  <a:srgbClr val="073763"/>
                </a:solidFill>
                <a:highlight>
                  <a:srgbClr val="FFFFFF"/>
                </a:highlight>
              </a:rPr>
              <a:t>Shravani Maskar</a:t>
            </a:r>
            <a:endParaRPr b="1" sz="7200">
              <a:solidFill>
                <a:srgbClr val="073763"/>
              </a:solidFill>
              <a:highlight>
                <a:srgbClr val="FFFFFF"/>
              </a:highlight>
            </a:endParaRPr>
          </a:p>
          <a:p>
            <a:pPr indent="0" lvl="0" marL="0" rtl="0" algn="l">
              <a:lnSpc>
                <a:spcPct val="115000"/>
              </a:lnSpc>
              <a:spcBef>
                <a:spcPts val="1000"/>
              </a:spcBef>
              <a:spcAft>
                <a:spcPts val="0"/>
              </a:spcAft>
              <a:buNone/>
            </a:pPr>
            <a:r>
              <a:rPr lang="en" sz="5600">
                <a:solidFill>
                  <a:srgbClr val="20124D"/>
                </a:solidFill>
                <a:highlight>
                  <a:srgbClr val="FFFFFF"/>
                </a:highlight>
              </a:rPr>
              <a:t>Date: 12/16/2025</a:t>
            </a:r>
            <a:endParaRPr sz="5600">
              <a:solidFill>
                <a:srgbClr val="20124D"/>
              </a:solidFill>
              <a:highlight>
                <a:srgbClr val="FFFFFF"/>
              </a:highlight>
            </a:endParaRPr>
          </a:p>
          <a:p>
            <a:pPr indent="0" lvl="0" marL="0" rtl="0" algn="ctr">
              <a:spcBef>
                <a:spcPts val="0"/>
              </a:spcBef>
              <a:spcAft>
                <a:spcPts val="0"/>
              </a:spcAft>
              <a:buNone/>
            </a:pPr>
            <a:r>
              <a:t/>
            </a:r>
            <a:endParaRPr/>
          </a:p>
        </p:txBody>
      </p:sp>
      <p:pic>
        <p:nvPicPr>
          <p:cNvPr id="56" name="Google Shape;56;p13" title="main-qimg-70d6d71443b8e7ba64acbdf466cb2913-1-removebg-preview.png"/>
          <p:cNvPicPr preferRelativeResize="0"/>
          <p:nvPr/>
        </p:nvPicPr>
        <p:blipFill>
          <a:blip r:embed="rId3">
            <a:alphaModFix/>
          </a:blip>
          <a:stretch>
            <a:fillRect/>
          </a:stretch>
        </p:blipFill>
        <p:spPr>
          <a:xfrm>
            <a:off x="4730725" y="1785500"/>
            <a:ext cx="3784275" cy="26237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128016"/>
            <a:ext cx="85206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en" sz="2420">
                <a:solidFill>
                  <a:srgbClr val="073763"/>
                </a:solidFill>
              </a:rPr>
              <a:t>System Architecture</a:t>
            </a:r>
            <a:endParaRPr b="1" sz="2420">
              <a:solidFill>
                <a:srgbClr val="073763"/>
              </a:solidFill>
            </a:endParaRPr>
          </a:p>
        </p:txBody>
      </p:sp>
      <p:sp>
        <p:nvSpPr>
          <p:cNvPr id="62" name="Google Shape;62;p14"/>
          <p:cNvSpPr/>
          <p:nvPr/>
        </p:nvSpPr>
        <p:spPr>
          <a:xfrm>
            <a:off x="939100" y="1058450"/>
            <a:ext cx="1272600" cy="469200"/>
          </a:xfrm>
          <a:prstGeom prst="roundRect">
            <a:avLst>
              <a:gd fmla="val 16667" name="adj"/>
            </a:avLst>
          </a:prstGeom>
          <a:solidFill>
            <a:schemeClr val="lt2"/>
          </a:solidFill>
          <a:ln cap="flat" cmpd="sng" w="8950">
            <a:solidFill>
              <a:srgbClr val="20124D"/>
            </a:solidFill>
            <a:prstDash val="lgDashDot"/>
            <a:round/>
            <a:headEnd len="sm" w="sm" type="none"/>
            <a:tailEnd len="sm" w="sm" type="none"/>
          </a:ln>
        </p:spPr>
        <p:txBody>
          <a:bodyPr anchorCtr="0" anchor="ctr" bIns="85950" lIns="85950" spcFirstLastPara="1" rIns="85950" wrap="square" tIns="85950">
            <a:noAutofit/>
          </a:bodyPr>
          <a:lstStyle/>
          <a:p>
            <a:pPr indent="0" lvl="0" marL="0" rtl="0" algn="ctr">
              <a:spcBef>
                <a:spcPts val="0"/>
              </a:spcBef>
              <a:spcAft>
                <a:spcPts val="0"/>
              </a:spcAft>
              <a:buNone/>
            </a:pPr>
            <a:r>
              <a:rPr b="1" lang="en" sz="1122">
                <a:solidFill>
                  <a:srgbClr val="073763"/>
                </a:solidFill>
              </a:rPr>
              <a:t>Events Generator </a:t>
            </a:r>
            <a:endParaRPr b="1" sz="1022">
              <a:solidFill>
                <a:srgbClr val="073763"/>
              </a:solidFill>
            </a:endParaRPr>
          </a:p>
        </p:txBody>
      </p:sp>
      <p:sp>
        <p:nvSpPr>
          <p:cNvPr id="63" name="Google Shape;63;p14"/>
          <p:cNvSpPr/>
          <p:nvPr/>
        </p:nvSpPr>
        <p:spPr>
          <a:xfrm>
            <a:off x="2719117" y="1058450"/>
            <a:ext cx="890700" cy="469200"/>
          </a:xfrm>
          <a:prstGeom prst="roundRect">
            <a:avLst>
              <a:gd fmla="val 16667" name="adj"/>
            </a:avLst>
          </a:prstGeom>
          <a:solidFill>
            <a:schemeClr val="lt2"/>
          </a:solidFill>
          <a:ln cap="flat" cmpd="sng" w="8950">
            <a:solidFill>
              <a:srgbClr val="20124D"/>
            </a:solidFill>
            <a:prstDash val="lgDashDot"/>
            <a:round/>
            <a:headEnd len="sm" w="sm" type="none"/>
            <a:tailEnd len="sm" w="sm" type="none"/>
          </a:ln>
        </p:spPr>
        <p:txBody>
          <a:bodyPr anchorCtr="0" anchor="ctr" bIns="85950" lIns="85950" spcFirstLastPara="1" rIns="85950" wrap="square" tIns="85950">
            <a:noAutofit/>
          </a:bodyPr>
          <a:lstStyle/>
          <a:p>
            <a:pPr indent="0" lvl="0" marL="0" rtl="0" algn="ctr">
              <a:spcBef>
                <a:spcPts val="0"/>
              </a:spcBef>
              <a:spcAft>
                <a:spcPts val="0"/>
              </a:spcAft>
              <a:buNone/>
            </a:pPr>
            <a:r>
              <a:rPr b="1" lang="en" sz="1222">
                <a:solidFill>
                  <a:srgbClr val="073763"/>
                </a:solidFill>
              </a:rPr>
              <a:t>NiFi </a:t>
            </a:r>
            <a:endParaRPr sz="1222">
              <a:solidFill>
                <a:srgbClr val="073763"/>
              </a:solidFill>
            </a:endParaRPr>
          </a:p>
        </p:txBody>
      </p:sp>
      <p:sp>
        <p:nvSpPr>
          <p:cNvPr id="64" name="Google Shape;64;p14"/>
          <p:cNvSpPr/>
          <p:nvPr/>
        </p:nvSpPr>
        <p:spPr>
          <a:xfrm>
            <a:off x="4019021" y="1848037"/>
            <a:ext cx="1222500" cy="469200"/>
          </a:xfrm>
          <a:prstGeom prst="roundRect">
            <a:avLst>
              <a:gd fmla="val 16667" name="adj"/>
            </a:avLst>
          </a:prstGeom>
          <a:solidFill>
            <a:schemeClr val="lt2"/>
          </a:solidFill>
          <a:ln cap="flat" cmpd="sng" w="8950">
            <a:solidFill>
              <a:srgbClr val="20124D"/>
            </a:solidFill>
            <a:prstDash val="lgDashDot"/>
            <a:round/>
            <a:headEnd len="sm" w="sm" type="none"/>
            <a:tailEnd len="sm" w="sm" type="none"/>
          </a:ln>
        </p:spPr>
        <p:txBody>
          <a:bodyPr anchorCtr="0" anchor="ctr" bIns="85950" lIns="85950" spcFirstLastPara="1" rIns="85950" wrap="square" tIns="85950">
            <a:noAutofit/>
          </a:bodyPr>
          <a:lstStyle/>
          <a:p>
            <a:pPr indent="0" lvl="0" marL="0" rtl="0" algn="ctr">
              <a:spcBef>
                <a:spcPts val="0"/>
              </a:spcBef>
              <a:spcAft>
                <a:spcPts val="0"/>
              </a:spcAft>
              <a:buNone/>
            </a:pPr>
            <a:r>
              <a:rPr b="1" lang="en" sz="1222">
                <a:solidFill>
                  <a:srgbClr val="073763"/>
                </a:solidFill>
              </a:rPr>
              <a:t>Spark Analytics</a:t>
            </a:r>
            <a:endParaRPr b="1" sz="1222">
              <a:solidFill>
                <a:srgbClr val="073763"/>
              </a:solidFill>
            </a:endParaRPr>
          </a:p>
        </p:txBody>
      </p:sp>
      <p:sp>
        <p:nvSpPr>
          <p:cNvPr id="65" name="Google Shape;65;p14"/>
          <p:cNvSpPr/>
          <p:nvPr/>
        </p:nvSpPr>
        <p:spPr>
          <a:xfrm>
            <a:off x="5728289" y="1849125"/>
            <a:ext cx="1079100" cy="469200"/>
          </a:xfrm>
          <a:prstGeom prst="roundRect">
            <a:avLst>
              <a:gd fmla="val 16667" name="adj"/>
            </a:avLst>
          </a:prstGeom>
          <a:solidFill>
            <a:schemeClr val="lt2"/>
          </a:solidFill>
          <a:ln cap="flat" cmpd="sng" w="8950">
            <a:solidFill>
              <a:srgbClr val="20124D"/>
            </a:solidFill>
            <a:prstDash val="lgDashDot"/>
            <a:round/>
            <a:headEnd len="sm" w="sm" type="none"/>
            <a:tailEnd len="sm" w="sm" type="none"/>
          </a:ln>
        </p:spPr>
        <p:txBody>
          <a:bodyPr anchorCtr="0" anchor="ctr" bIns="85950" lIns="85950" spcFirstLastPara="1" rIns="85950" wrap="square" tIns="85950">
            <a:noAutofit/>
          </a:bodyPr>
          <a:lstStyle/>
          <a:p>
            <a:pPr indent="0" lvl="0" marL="0" rtl="0" algn="ctr">
              <a:spcBef>
                <a:spcPts val="0"/>
              </a:spcBef>
              <a:spcAft>
                <a:spcPts val="0"/>
              </a:spcAft>
              <a:buNone/>
            </a:pPr>
            <a:r>
              <a:rPr b="1" lang="en" sz="1222">
                <a:solidFill>
                  <a:srgbClr val="073763"/>
                </a:solidFill>
              </a:rPr>
              <a:t>Postgres </a:t>
            </a:r>
            <a:endParaRPr b="1" sz="1222">
              <a:solidFill>
                <a:srgbClr val="073763"/>
              </a:solidFill>
            </a:endParaRPr>
          </a:p>
        </p:txBody>
      </p:sp>
      <p:sp>
        <p:nvSpPr>
          <p:cNvPr id="66" name="Google Shape;66;p14"/>
          <p:cNvSpPr/>
          <p:nvPr/>
        </p:nvSpPr>
        <p:spPr>
          <a:xfrm>
            <a:off x="4028763" y="2757822"/>
            <a:ext cx="1079100" cy="469200"/>
          </a:xfrm>
          <a:prstGeom prst="roundRect">
            <a:avLst>
              <a:gd fmla="val 16667" name="adj"/>
            </a:avLst>
          </a:prstGeom>
          <a:solidFill>
            <a:schemeClr val="lt2"/>
          </a:solidFill>
          <a:ln cap="flat" cmpd="sng" w="8950">
            <a:solidFill>
              <a:srgbClr val="20124D"/>
            </a:solidFill>
            <a:prstDash val="lgDashDot"/>
            <a:round/>
            <a:headEnd len="sm" w="sm" type="none"/>
            <a:tailEnd len="sm" w="sm" type="none"/>
          </a:ln>
        </p:spPr>
        <p:txBody>
          <a:bodyPr anchorCtr="0" anchor="ctr" bIns="85950" lIns="85950" spcFirstLastPara="1" rIns="85950" wrap="square" tIns="85950">
            <a:noAutofit/>
          </a:bodyPr>
          <a:lstStyle/>
          <a:p>
            <a:pPr indent="0" lvl="0" marL="0" rtl="0" algn="ctr">
              <a:spcBef>
                <a:spcPts val="0"/>
              </a:spcBef>
              <a:spcAft>
                <a:spcPts val="0"/>
              </a:spcAft>
              <a:buNone/>
            </a:pPr>
            <a:r>
              <a:rPr b="1" lang="en" sz="1222">
                <a:solidFill>
                  <a:srgbClr val="073763"/>
                </a:solidFill>
              </a:rPr>
              <a:t>Features</a:t>
            </a:r>
            <a:endParaRPr b="1" sz="1222">
              <a:solidFill>
                <a:srgbClr val="073763"/>
              </a:solidFill>
            </a:endParaRPr>
          </a:p>
        </p:txBody>
      </p:sp>
      <p:sp>
        <p:nvSpPr>
          <p:cNvPr id="67" name="Google Shape;67;p14"/>
          <p:cNvSpPr/>
          <p:nvPr/>
        </p:nvSpPr>
        <p:spPr>
          <a:xfrm>
            <a:off x="2666809" y="3667614"/>
            <a:ext cx="1079100" cy="660300"/>
          </a:xfrm>
          <a:prstGeom prst="roundRect">
            <a:avLst>
              <a:gd fmla="val 16667" name="adj"/>
            </a:avLst>
          </a:prstGeom>
          <a:solidFill>
            <a:schemeClr val="lt2"/>
          </a:solidFill>
          <a:ln cap="flat" cmpd="sng" w="8950">
            <a:solidFill>
              <a:srgbClr val="20124D"/>
            </a:solidFill>
            <a:prstDash val="lgDashDot"/>
            <a:round/>
            <a:headEnd len="sm" w="sm" type="none"/>
            <a:tailEnd len="sm" w="sm" type="none"/>
          </a:ln>
        </p:spPr>
        <p:txBody>
          <a:bodyPr anchorCtr="0" anchor="ctr" bIns="85950" lIns="85950" spcFirstLastPara="1" rIns="85950" wrap="square" tIns="85950">
            <a:noAutofit/>
          </a:bodyPr>
          <a:lstStyle/>
          <a:p>
            <a:pPr indent="0" lvl="0" marL="0" rtl="0" algn="ctr">
              <a:spcBef>
                <a:spcPts val="0"/>
              </a:spcBef>
              <a:spcAft>
                <a:spcPts val="0"/>
              </a:spcAft>
              <a:buNone/>
            </a:pPr>
            <a:r>
              <a:rPr b="1" lang="en" sz="1222">
                <a:solidFill>
                  <a:srgbClr val="073763"/>
                </a:solidFill>
              </a:rPr>
              <a:t>Basic &amp; Advanced Alerting</a:t>
            </a:r>
            <a:endParaRPr b="1" sz="1222">
              <a:solidFill>
                <a:srgbClr val="073763"/>
              </a:solidFill>
            </a:endParaRPr>
          </a:p>
        </p:txBody>
      </p:sp>
      <p:sp>
        <p:nvSpPr>
          <p:cNvPr id="68" name="Google Shape;68;p14"/>
          <p:cNvSpPr/>
          <p:nvPr/>
        </p:nvSpPr>
        <p:spPr>
          <a:xfrm>
            <a:off x="3825086" y="3667614"/>
            <a:ext cx="1079100" cy="1069500"/>
          </a:xfrm>
          <a:prstGeom prst="roundRect">
            <a:avLst>
              <a:gd fmla="val 16667" name="adj"/>
            </a:avLst>
          </a:prstGeom>
          <a:solidFill>
            <a:schemeClr val="lt2"/>
          </a:solidFill>
          <a:ln cap="flat" cmpd="sng" w="8950">
            <a:solidFill>
              <a:srgbClr val="20124D"/>
            </a:solidFill>
            <a:prstDash val="lgDashDot"/>
            <a:round/>
            <a:headEnd len="sm" w="sm" type="none"/>
            <a:tailEnd len="sm" w="sm" type="none"/>
          </a:ln>
        </p:spPr>
        <p:txBody>
          <a:bodyPr anchorCtr="0" anchor="ctr" bIns="85950" lIns="85950" spcFirstLastPara="1" rIns="85950" wrap="square" tIns="85950">
            <a:noAutofit/>
          </a:bodyPr>
          <a:lstStyle/>
          <a:p>
            <a:pPr indent="0" lvl="0" marL="0" rtl="0" algn="ctr">
              <a:spcBef>
                <a:spcPts val="0"/>
              </a:spcBef>
              <a:spcAft>
                <a:spcPts val="0"/>
              </a:spcAft>
              <a:buNone/>
            </a:pPr>
            <a:r>
              <a:rPr b="1" lang="en" sz="1222">
                <a:solidFill>
                  <a:srgbClr val="073763"/>
                </a:solidFill>
              </a:rPr>
              <a:t>Anomaly Detection </a:t>
            </a:r>
            <a:br>
              <a:rPr b="1" lang="en" sz="1222">
                <a:solidFill>
                  <a:srgbClr val="073763"/>
                </a:solidFill>
              </a:rPr>
            </a:br>
            <a:r>
              <a:rPr b="1" lang="en" sz="1222">
                <a:solidFill>
                  <a:srgbClr val="073763"/>
                </a:solidFill>
              </a:rPr>
              <a:t>&amp; </a:t>
            </a:r>
            <a:br>
              <a:rPr b="1" lang="en" sz="1222">
                <a:solidFill>
                  <a:srgbClr val="073763"/>
                </a:solidFill>
              </a:rPr>
            </a:br>
            <a:r>
              <a:rPr b="1" lang="en" sz="1222">
                <a:solidFill>
                  <a:srgbClr val="073763"/>
                </a:solidFill>
              </a:rPr>
              <a:t>Outbreak Prediction</a:t>
            </a:r>
            <a:endParaRPr b="1" sz="1222">
              <a:solidFill>
                <a:srgbClr val="073763"/>
              </a:solidFill>
            </a:endParaRPr>
          </a:p>
        </p:txBody>
      </p:sp>
      <p:sp>
        <p:nvSpPr>
          <p:cNvPr id="69" name="Google Shape;69;p14"/>
          <p:cNvSpPr/>
          <p:nvPr/>
        </p:nvSpPr>
        <p:spPr>
          <a:xfrm>
            <a:off x="4983382" y="3667614"/>
            <a:ext cx="1217700" cy="469200"/>
          </a:xfrm>
          <a:prstGeom prst="roundRect">
            <a:avLst>
              <a:gd fmla="val 16667" name="adj"/>
            </a:avLst>
          </a:prstGeom>
          <a:solidFill>
            <a:schemeClr val="lt2"/>
          </a:solidFill>
          <a:ln cap="flat" cmpd="sng" w="8950">
            <a:solidFill>
              <a:srgbClr val="20124D"/>
            </a:solidFill>
            <a:prstDash val="lgDashDot"/>
            <a:round/>
            <a:headEnd len="sm" w="sm" type="none"/>
            <a:tailEnd len="sm" w="sm" type="none"/>
          </a:ln>
        </p:spPr>
        <p:txBody>
          <a:bodyPr anchorCtr="0" anchor="ctr" bIns="85950" lIns="85950" spcFirstLastPara="1" rIns="85950" wrap="square" tIns="85950">
            <a:noAutofit/>
          </a:bodyPr>
          <a:lstStyle/>
          <a:p>
            <a:pPr indent="0" lvl="0" marL="0" rtl="0" algn="ctr">
              <a:spcBef>
                <a:spcPts val="0"/>
              </a:spcBef>
              <a:spcAft>
                <a:spcPts val="0"/>
              </a:spcAft>
              <a:buNone/>
            </a:pPr>
            <a:r>
              <a:rPr b="1" lang="en" sz="1222">
                <a:solidFill>
                  <a:srgbClr val="073763"/>
                </a:solidFill>
              </a:rPr>
              <a:t>Visualization</a:t>
            </a:r>
            <a:endParaRPr b="1" sz="1222">
              <a:solidFill>
                <a:srgbClr val="073763"/>
              </a:solidFill>
            </a:endParaRPr>
          </a:p>
        </p:txBody>
      </p:sp>
      <p:sp>
        <p:nvSpPr>
          <p:cNvPr id="70" name="Google Shape;70;p14"/>
          <p:cNvSpPr/>
          <p:nvPr/>
        </p:nvSpPr>
        <p:spPr>
          <a:xfrm>
            <a:off x="7471575" y="3667625"/>
            <a:ext cx="1079100" cy="1069500"/>
          </a:xfrm>
          <a:prstGeom prst="roundRect">
            <a:avLst>
              <a:gd fmla="val 16667" name="adj"/>
            </a:avLst>
          </a:prstGeom>
          <a:solidFill>
            <a:schemeClr val="lt2"/>
          </a:solidFill>
          <a:ln cap="flat" cmpd="sng" w="8950">
            <a:solidFill>
              <a:srgbClr val="20124D"/>
            </a:solidFill>
            <a:prstDash val="lgDashDot"/>
            <a:round/>
            <a:headEnd len="sm" w="sm" type="none"/>
            <a:tailEnd len="sm" w="sm" type="none"/>
          </a:ln>
        </p:spPr>
        <p:txBody>
          <a:bodyPr anchorCtr="0" anchor="ctr" bIns="85950" lIns="85950" spcFirstLastPara="1" rIns="85950" wrap="square" tIns="85950">
            <a:noAutofit/>
          </a:bodyPr>
          <a:lstStyle/>
          <a:p>
            <a:pPr indent="0" lvl="0" marL="0" rtl="0" algn="ctr">
              <a:spcBef>
                <a:spcPts val="0"/>
              </a:spcBef>
              <a:spcAft>
                <a:spcPts val="0"/>
              </a:spcAft>
              <a:buNone/>
            </a:pPr>
            <a:r>
              <a:rPr b="1" lang="en" sz="1222">
                <a:solidFill>
                  <a:srgbClr val="073763"/>
                </a:solidFill>
              </a:rPr>
              <a:t>Testing &amp; Data Quality Monitoring</a:t>
            </a:r>
            <a:endParaRPr b="1" sz="1222">
              <a:solidFill>
                <a:srgbClr val="073763"/>
              </a:solidFill>
            </a:endParaRPr>
          </a:p>
        </p:txBody>
      </p:sp>
      <p:sp>
        <p:nvSpPr>
          <p:cNvPr id="71" name="Google Shape;71;p14"/>
          <p:cNvSpPr/>
          <p:nvPr/>
        </p:nvSpPr>
        <p:spPr>
          <a:xfrm>
            <a:off x="5859688" y="2758375"/>
            <a:ext cx="816300" cy="469200"/>
          </a:xfrm>
          <a:prstGeom prst="roundRect">
            <a:avLst>
              <a:gd fmla="val 16667" name="adj"/>
            </a:avLst>
          </a:prstGeom>
          <a:solidFill>
            <a:schemeClr val="lt2"/>
          </a:solidFill>
          <a:ln cap="flat" cmpd="sng" w="8950">
            <a:solidFill>
              <a:srgbClr val="20124D"/>
            </a:solidFill>
            <a:prstDash val="lgDashDot"/>
            <a:round/>
            <a:headEnd len="sm" w="sm" type="none"/>
            <a:tailEnd len="sm" w="sm" type="none"/>
          </a:ln>
        </p:spPr>
        <p:txBody>
          <a:bodyPr anchorCtr="0" anchor="ctr" bIns="85950" lIns="85950" spcFirstLastPara="1" rIns="85950" wrap="square" tIns="85950">
            <a:noAutofit/>
          </a:bodyPr>
          <a:lstStyle/>
          <a:p>
            <a:pPr indent="0" lvl="0" marL="0" rtl="0" algn="ctr">
              <a:spcBef>
                <a:spcPts val="0"/>
              </a:spcBef>
              <a:spcAft>
                <a:spcPts val="0"/>
              </a:spcAft>
              <a:buNone/>
            </a:pPr>
            <a:r>
              <a:rPr b="1" lang="en" sz="1222">
                <a:solidFill>
                  <a:srgbClr val="073763"/>
                </a:solidFill>
              </a:rPr>
              <a:t>Jupyter</a:t>
            </a:r>
            <a:endParaRPr b="1" sz="1222">
              <a:solidFill>
                <a:srgbClr val="073763"/>
              </a:solidFill>
            </a:endParaRPr>
          </a:p>
        </p:txBody>
      </p:sp>
      <p:sp>
        <p:nvSpPr>
          <p:cNvPr id="72" name="Google Shape;72;p14"/>
          <p:cNvSpPr/>
          <p:nvPr/>
        </p:nvSpPr>
        <p:spPr>
          <a:xfrm>
            <a:off x="7427828" y="2757822"/>
            <a:ext cx="1079100" cy="469200"/>
          </a:xfrm>
          <a:prstGeom prst="roundRect">
            <a:avLst>
              <a:gd fmla="val 16667" name="adj"/>
            </a:avLst>
          </a:prstGeom>
          <a:solidFill>
            <a:schemeClr val="lt2"/>
          </a:solidFill>
          <a:ln cap="flat" cmpd="sng" w="8950">
            <a:solidFill>
              <a:srgbClr val="20124D"/>
            </a:solidFill>
            <a:prstDash val="lgDashDot"/>
            <a:round/>
            <a:headEnd len="sm" w="sm" type="none"/>
            <a:tailEnd len="sm" w="sm" type="none"/>
          </a:ln>
        </p:spPr>
        <p:txBody>
          <a:bodyPr anchorCtr="0" anchor="ctr" bIns="85950" lIns="85950" spcFirstLastPara="1" rIns="85950" wrap="square" tIns="85950">
            <a:noAutofit/>
          </a:bodyPr>
          <a:lstStyle/>
          <a:p>
            <a:pPr indent="0" lvl="0" marL="0" rtl="0" algn="ctr">
              <a:spcBef>
                <a:spcPts val="0"/>
              </a:spcBef>
              <a:spcAft>
                <a:spcPts val="0"/>
              </a:spcAft>
              <a:buNone/>
            </a:pPr>
            <a:r>
              <a:rPr b="1" lang="en" sz="1222">
                <a:solidFill>
                  <a:srgbClr val="073763"/>
                </a:solidFill>
              </a:rPr>
              <a:t>Grafana</a:t>
            </a:r>
            <a:endParaRPr b="1" sz="1222">
              <a:solidFill>
                <a:srgbClr val="073763"/>
              </a:solidFill>
            </a:endParaRPr>
          </a:p>
        </p:txBody>
      </p:sp>
      <p:sp>
        <p:nvSpPr>
          <p:cNvPr id="73" name="Google Shape;73;p14"/>
          <p:cNvSpPr/>
          <p:nvPr/>
        </p:nvSpPr>
        <p:spPr>
          <a:xfrm>
            <a:off x="3843850" y="2637675"/>
            <a:ext cx="4848000" cy="709500"/>
          </a:xfrm>
          <a:prstGeom prst="rect">
            <a:avLst/>
          </a:prstGeom>
          <a:noFill/>
          <a:ln cap="flat" cmpd="sng" w="8950">
            <a:solidFill>
              <a:srgbClr val="20124D"/>
            </a:solidFill>
            <a:prstDash val="lgDash"/>
            <a:round/>
            <a:headEnd len="sm" w="sm" type="none"/>
            <a:tailEnd len="sm" w="sm" type="none"/>
          </a:ln>
        </p:spPr>
        <p:txBody>
          <a:bodyPr anchorCtr="0" anchor="ctr" bIns="85950" lIns="85950" spcFirstLastPara="1" rIns="85950" wrap="square" tIns="85950">
            <a:noAutofit/>
          </a:bodyPr>
          <a:lstStyle/>
          <a:p>
            <a:pPr indent="0" lvl="0" marL="0" rtl="0" algn="ctr">
              <a:spcBef>
                <a:spcPts val="0"/>
              </a:spcBef>
              <a:spcAft>
                <a:spcPts val="0"/>
              </a:spcAft>
              <a:buNone/>
            </a:pPr>
            <a:r>
              <a:t/>
            </a:r>
            <a:endParaRPr sz="1316"/>
          </a:p>
        </p:txBody>
      </p:sp>
      <p:sp>
        <p:nvSpPr>
          <p:cNvPr id="74" name="Google Shape;74;p14"/>
          <p:cNvSpPr/>
          <p:nvPr/>
        </p:nvSpPr>
        <p:spPr>
          <a:xfrm>
            <a:off x="6262275" y="3667614"/>
            <a:ext cx="1148100" cy="469200"/>
          </a:xfrm>
          <a:prstGeom prst="roundRect">
            <a:avLst>
              <a:gd fmla="val 16667" name="adj"/>
            </a:avLst>
          </a:prstGeom>
          <a:solidFill>
            <a:schemeClr val="lt2"/>
          </a:solidFill>
          <a:ln cap="flat" cmpd="sng" w="8950">
            <a:solidFill>
              <a:srgbClr val="20124D"/>
            </a:solidFill>
            <a:prstDash val="lgDashDot"/>
            <a:round/>
            <a:headEnd len="sm" w="sm" type="none"/>
            <a:tailEnd len="sm" w="sm" type="none"/>
          </a:ln>
        </p:spPr>
        <p:txBody>
          <a:bodyPr anchorCtr="0" anchor="ctr" bIns="85950" lIns="85950" spcFirstLastPara="1" rIns="85950" wrap="square" tIns="85950">
            <a:noAutofit/>
          </a:bodyPr>
          <a:lstStyle/>
          <a:p>
            <a:pPr indent="0" lvl="0" marL="0" rtl="0" algn="ctr">
              <a:spcBef>
                <a:spcPts val="0"/>
              </a:spcBef>
              <a:spcAft>
                <a:spcPts val="0"/>
              </a:spcAft>
              <a:buNone/>
            </a:pPr>
            <a:r>
              <a:rPr b="1" lang="en" sz="1222">
                <a:solidFill>
                  <a:srgbClr val="073763"/>
                </a:solidFill>
              </a:rPr>
              <a:t>ML Model Comparison</a:t>
            </a:r>
            <a:endParaRPr b="1" sz="1222">
              <a:solidFill>
                <a:srgbClr val="073763"/>
              </a:solidFill>
            </a:endParaRPr>
          </a:p>
        </p:txBody>
      </p:sp>
      <p:sp>
        <p:nvSpPr>
          <p:cNvPr id="75" name="Google Shape;75;p14"/>
          <p:cNvSpPr/>
          <p:nvPr/>
        </p:nvSpPr>
        <p:spPr>
          <a:xfrm>
            <a:off x="4222113" y="1056388"/>
            <a:ext cx="816300" cy="469200"/>
          </a:xfrm>
          <a:prstGeom prst="roundRect">
            <a:avLst>
              <a:gd fmla="val 16667" name="adj"/>
            </a:avLst>
          </a:prstGeom>
          <a:solidFill>
            <a:schemeClr val="lt2"/>
          </a:solidFill>
          <a:ln cap="flat" cmpd="sng" w="8950">
            <a:solidFill>
              <a:srgbClr val="20124D"/>
            </a:solidFill>
            <a:prstDash val="lgDashDot"/>
            <a:round/>
            <a:headEnd len="sm" w="sm" type="none"/>
            <a:tailEnd len="sm" w="sm" type="none"/>
          </a:ln>
        </p:spPr>
        <p:txBody>
          <a:bodyPr anchorCtr="0" anchor="ctr" bIns="85950" lIns="85950" spcFirstLastPara="1" rIns="85950" wrap="square" tIns="85950">
            <a:noAutofit/>
          </a:bodyPr>
          <a:lstStyle/>
          <a:p>
            <a:pPr indent="0" lvl="0" marL="0" rtl="0" algn="ctr">
              <a:spcBef>
                <a:spcPts val="0"/>
              </a:spcBef>
              <a:spcAft>
                <a:spcPts val="0"/>
              </a:spcAft>
              <a:buNone/>
            </a:pPr>
            <a:r>
              <a:rPr b="1" lang="en" sz="1222">
                <a:solidFill>
                  <a:srgbClr val="073763"/>
                </a:solidFill>
              </a:rPr>
              <a:t>Kafka </a:t>
            </a:r>
            <a:endParaRPr b="1" sz="1222">
              <a:solidFill>
                <a:srgbClr val="073763"/>
              </a:solidFill>
            </a:endParaRPr>
          </a:p>
          <a:p>
            <a:pPr indent="0" lvl="0" marL="0" rtl="0" algn="ctr">
              <a:spcBef>
                <a:spcPts val="0"/>
              </a:spcBef>
              <a:spcAft>
                <a:spcPts val="0"/>
              </a:spcAft>
              <a:buNone/>
            </a:pPr>
            <a:r>
              <a:rPr b="1" lang="en" sz="1022">
                <a:solidFill>
                  <a:srgbClr val="073763"/>
                </a:solidFill>
              </a:rPr>
              <a:t>(publish)</a:t>
            </a:r>
            <a:endParaRPr b="1" sz="1022">
              <a:solidFill>
                <a:srgbClr val="073763"/>
              </a:solidFill>
            </a:endParaRPr>
          </a:p>
        </p:txBody>
      </p:sp>
      <p:sp>
        <p:nvSpPr>
          <p:cNvPr id="76" name="Google Shape;76;p14"/>
          <p:cNvSpPr txBox="1"/>
          <p:nvPr/>
        </p:nvSpPr>
        <p:spPr>
          <a:xfrm rot="-5400000">
            <a:off x="203875" y="2052250"/>
            <a:ext cx="768000" cy="364800"/>
          </a:xfrm>
          <a:prstGeom prst="rect">
            <a:avLst/>
          </a:prstGeom>
          <a:solidFill>
            <a:srgbClr val="D9D2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20124D"/>
                </a:solidFill>
              </a:rPr>
              <a:t>Phase 2</a:t>
            </a:r>
            <a:endParaRPr b="1" sz="1200">
              <a:solidFill>
                <a:srgbClr val="20124D"/>
              </a:solidFill>
            </a:endParaRPr>
          </a:p>
        </p:txBody>
      </p:sp>
      <p:sp>
        <p:nvSpPr>
          <p:cNvPr id="77" name="Google Shape;77;p14"/>
          <p:cNvSpPr txBox="1"/>
          <p:nvPr/>
        </p:nvSpPr>
        <p:spPr>
          <a:xfrm rot="-5400000">
            <a:off x="-454475" y="3547025"/>
            <a:ext cx="2084700" cy="367200"/>
          </a:xfrm>
          <a:prstGeom prst="rect">
            <a:avLst/>
          </a:prstGeom>
          <a:solidFill>
            <a:srgbClr val="D9D2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20124D"/>
                </a:solidFill>
              </a:rPr>
              <a:t>Phase 3</a:t>
            </a:r>
            <a:endParaRPr b="1" sz="1200">
              <a:solidFill>
                <a:srgbClr val="20124D"/>
              </a:solidFill>
            </a:endParaRPr>
          </a:p>
        </p:txBody>
      </p:sp>
      <p:sp>
        <p:nvSpPr>
          <p:cNvPr id="78" name="Google Shape;78;p14"/>
          <p:cNvSpPr txBox="1"/>
          <p:nvPr/>
        </p:nvSpPr>
        <p:spPr>
          <a:xfrm rot="-5400000">
            <a:off x="194575" y="1194350"/>
            <a:ext cx="786600" cy="365700"/>
          </a:xfrm>
          <a:prstGeom prst="rect">
            <a:avLst/>
          </a:prstGeom>
          <a:solidFill>
            <a:srgbClr val="D9D2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20124D"/>
                </a:solidFill>
              </a:rPr>
              <a:t>Phase 1</a:t>
            </a:r>
            <a:endParaRPr b="1" sz="1200">
              <a:solidFill>
                <a:srgbClr val="20124D"/>
              </a:solidFill>
            </a:endParaRPr>
          </a:p>
        </p:txBody>
      </p:sp>
      <p:cxnSp>
        <p:nvCxnSpPr>
          <p:cNvPr id="79" name="Google Shape;79;p14"/>
          <p:cNvCxnSpPr>
            <a:stCxn id="62" idx="3"/>
            <a:endCxn id="63" idx="1"/>
          </p:cNvCxnSpPr>
          <p:nvPr/>
        </p:nvCxnSpPr>
        <p:spPr>
          <a:xfrm>
            <a:off x="2211700" y="1293050"/>
            <a:ext cx="507300" cy="0"/>
          </a:xfrm>
          <a:prstGeom prst="straightConnector1">
            <a:avLst/>
          </a:prstGeom>
          <a:noFill/>
          <a:ln cap="flat" cmpd="sng" w="19050">
            <a:solidFill>
              <a:srgbClr val="351C75"/>
            </a:solidFill>
            <a:prstDash val="solid"/>
            <a:round/>
            <a:headEnd len="med" w="med" type="none"/>
            <a:tailEnd len="med" w="med" type="triangle"/>
          </a:ln>
        </p:spPr>
      </p:cxnSp>
      <p:cxnSp>
        <p:nvCxnSpPr>
          <p:cNvPr id="80" name="Google Shape;80;p14"/>
          <p:cNvCxnSpPr>
            <a:stCxn id="63" idx="3"/>
          </p:cNvCxnSpPr>
          <p:nvPr/>
        </p:nvCxnSpPr>
        <p:spPr>
          <a:xfrm>
            <a:off x="3609817" y="1293050"/>
            <a:ext cx="612300" cy="0"/>
          </a:xfrm>
          <a:prstGeom prst="straightConnector1">
            <a:avLst/>
          </a:prstGeom>
          <a:noFill/>
          <a:ln cap="flat" cmpd="sng" w="19050">
            <a:solidFill>
              <a:srgbClr val="351C75"/>
            </a:solidFill>
            <a:prstDash val="solid"/>
            <a:round/>
            <a:headEnd len="med" w="med" type="none"/>
            <a:tailEnd len="med" w="med" type="triangle"/>
          </a:ln>
        </p:spPr>
      </p:cxnSp>
      <p:cxnSp>
        <p:nvCxnSpPr>
          <p:cNvPr id="81" name="Google Shape;81;p14"/>
          <p:cNvCxnSpPr/>
          <p:nvPr/>
        </p:nvCxnSpPr>
        <p:spPr>
          <a:xfrm>
            <a:off x="4629225" y="1513250"/>
            <a:ext cx="2100" cy="345300"/>
          </a:xfrm>
          <a:prstGeom prst="straightConnector1">
            <a:avLst/>
          </a:prstGeom>
          <a:noFill/>
          <a:ln cap="flat" cmpd="sng" w="19050">
            <a:solidFill>
              <a:srgbClr val="20124D"/>
            </a:solidFill>
            <a:prstDash val="solid"/>
            <a:round/>
            <a:headEnd len="med" w="med" type="none"/>
            <a:tailEnd len="med" w="med" type="triangle"/>
          </a:ln>
        </p:spPr>
      </p:cxnSp>
      <p:cxnSp>
        <p:nvCxnSpPr>
          <p:cNvPr id="82" name="Google Shape;82;p14"/>
          <p:cNvCxnSpPr>
            <a:stCxn id="64" idx="3"/>
          </p:cNvCxnSpPr>
          <p:nvPr/>
        </p:nvCxnSpPr>
        <p:spPr>
          <a:xfrm>
            <a:off x="5241521" y="2082637"/>
            <a:ext cx="486900" cy="0"/>
          </a:xfrm>
          <a:prstGeom prst="straightConnector1">
            <a:avLst/>
          </a:prstGeom>
          <a:noFill/>
          <a:ln cap="flat" cmpd="sng" w="19050">
            <a:solidFill>
              <a:srgbClr val="351C75"/>
            </a:solidFill>
            <a:prstDash val="solid"/>
            <a:round/>
            <a:headEnd len="med" w="med" type="none"/>
            <a:tailEnd len="med" w="med" type="triangle"/>
          </a:ln>
        </p:spPr>
      </p:cxnSp>
      <p:cxnSp>
        <p:nvCxnSpPr>
          <p:cNvPr id="83" name="Google Shape;83;p14"/>
          <p:cNvCxnSpPr>
            <a:endCxn id="74" idx="0"/>
          </p:cNvCxnSpPr>
          <p:nvPr/>
        </p:nvCxnSpPr>
        <p:spPr>
          <a:xfrm>
            <a:off x="6267525" y="3226914"/>
            <a:ext cx="568800" cy="440700"/>
          </a:xfrm>
          <a:prstGeom prst="straightConnector1">
            <a:avLst/>
          </a:prstGeom>
          <a:noFill/>
          <a:ln cap="flat" cmpd="sng" w="19050">
            <a:solidFill>
              <a:srgbClr val="351C75"/>
            </a:solidFill>
            <a:prstDash val="solid"/>
            <a:round/>
            <a:headEnd len="med" w="med" type="none"/>
            <a:tailEnd len="med" w="med" type="triangle"/>
          </a:ln>
        </p:spPr>
      </p:cxnSp>
      <p:sp>
        <p:nvSpPr>
          <p:cNvPr id="84" name="Google Shape;84;p14"/>
          <p:cNvSpPr txBox="1"/>
          <p:nvPr/>
        </p:nvSpPr>
        <p:spPr>
          <a:xfrm>
            <a:off x="4629225" y="1494440"/>
            <a:ext cx="1862100" cy="28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20124D"/>
                </a:solidFill>
              </a:rPr>
              <a:t>(Symptom | Clinical | </a:t>
            </a:r>
            <a:r>
              <a:rPr lang="en" sz="800">
                <a:solidFill>
                  <a:srgbClr val="20124D"/>
                </a:solidFill>
              </a:rPr>
              <a:t>Environmental)</a:t>
            </a:r>
            <a:endParaRPr sz="800">
              <a:solidFill>
                <a:srgbClr val="20124D"/>
              </a:solidFill>
            </a:endParaRPr>
          </a:p>
        </p:txBody>
      </p:sp>
      <p:sp>
        <p:nvSpPr>
          <p:cNvPr id="85" name="Google Shape;85;p14"/>
          <p:cNvSpPr txBox="1"/>
          <p:nvPr/>
        </p:nvSpPr>
        <p:spPr>
          <a:xfrm>
            <a:off x="3563816" y="815497"/>
            <a:ext cx="890700" cy="39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20124D"/>
                </a:solidFill>
              </a:rPr>
              <a:t>r</a:t>
            </a:r>
            <a:r>
              <a:rPr lang="en" sz="800">
                <a:solidFill>
                  <a:srgbClr val="20124D"/>
                </a:solidFill>
              </a:rPr>
              <a:t>oute by event_type</a:t>
            </a:r>
            <a:endParaRPr sz="800">
              <a:solidFill>
                <a:srgbClr val="20124D"/>
              </a:solidFill>
            </a:endParaRPr>
          </a:p>
        </p:txBody>
      </p:sp>
      <p:sp>
        <p:nvSpPr>
          <p:cNvPr id="86" name="Google Shape;86;p14"/>
          <p:cNvSpPr txBox="1"/>
          <p:nvPr/>
        </p:nvSpPr>
        <p:spPr>
          <a:xfrm>
            <a:off x="5154975" y="2066050"/>
            <a:ext cx="660000" cy="286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rgbClr val="20124D"/>
                </a:solidFill>
              </a:rPr>
              <a:t>Analytics</a:t>
            </a:r>
            <a:endParaRPr sz="800">
              <a:solidFill>
                <a:srgbClr val="20124D"/>
              </a:solidFill>
            </a:endParaRPr>
          </a:p>
        </p:txBody>
      </p:sp>
      <p:sp>
        <p:nvSpPr>
          <p:cNvPr id="87" name="Google Shape;87;p14"/>
          <p:cNvSpPr txBox="1"/>
          <p:nvPr/>
        </p:nvSpPr>
        <p:spPr>
          <a:xfrm>
            <a:off x="2159200" y="815500"/>
            <a:ext cx="612300" cy="286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rgbClr val="20124D"/>
                </a:solidFill>
              </a:rPr>
              <a:t>raw JSON</a:t>
            </a:r>
            <a:endParaRPr sz="800">
              <a:solidFill>
                <a:srgbClr val="20124D"/>
              </a:solidFill>
            </a:endParaRPr>
          </a:p>
        </p:txBody>
      </p:sp>
      <p:cxnSp>
        <p:nvCxnSpPr>
          <p:cNvPr id="88" name="Google Shape;88;p14"/>
          <p:cNvCxnSpPr/>
          <p:nvPr/>
        </p:nvCxnSpPr>
        <p:spPr>
          <a:xfrm>
            <a:off x="4444825" y="3223850"/>
            <a:ext cx="9600" cy="453000"/>
          </a:xfrm>
          <a:prstGeom prst="straightConnector1">
            <a:avLst/>
          </a:prstGeom>
          <a:noFill/>
          <a:ln cap="flat" cmpd="sng" w="19050">
            <a:solidFill>
              <a:srgbClr val="351C75"/>
            </a:solidFill>
            <a:prstDash val="solid"/>
            <a:round/>
            <a:headEnd len="med" w="med" type="none"/>
            <a:tailEnd len="med" w="med" type="triangle"/>
          </a:ln>
        </p:spPr>
      </p:cxnSp>
      <p:cxnSp>
        <p:nvCxnSpPr>
          <p:cNvPr id="89" name="Google Shape;89;p14"/>
          <p:cNvCxnSpPr>
            <a:endCxn id="67" idx="0"/>
          </p:cNvCxnSpPr>
          <p:nvPr/>
        </p:nvCxnSpPr>
        <p:spPr>
          <a:xfrm flipH="1">
            <a:off x="3206359" y="3223914"/>
            <a:ext cx="1259400" cy="443700"/>
          </a:xfrm>
          <a:prstGeom prst="straightConnector1">
            <a:avLst/>
          </a:prstGeom>
          <a:noFill/>
          <a:ln cap="flat" cmpd="sng" w="19050">
            <a:solidFill>
              <a:srgbClr val="351C75"/>
            </a:solidFill>
            <a:prstDash val="solid"/>
            <a:round/>
            <a:headEnd len="med" w="med" type="none"/>
            <a:tailEnd len="med" w="med" type="triangle"/>
          </a:ln>
        </p:spPr>
      </p:cxnSp>
      <p:cxnSp>
        <p:nvCxnSpPr>
          <p:cNvPr id="90" name="Google Shape;90;p14"/>
          <p:cNvCxnSpPr>
            <a:endCxn id="73" idx="0"/>
          </p:cNvCxnSpPr>
          <p:nvPr/>
        </p:nvCxnSpPr>
        <p:spPr>
          <a:xfrm>
            <a:off x="6263050" y="2317275"/>
            <a:ext cx="4800" cy="320400"/>
          </a:xfrm>
          <a:prstGeom prst="straightConnector1">
            <a:avLst/>
          </a:prstGeom>
          <a:noFill/>
          <a:ln cap="flat" cmpd="sng" w="19050">
            <a:solidFill>
              <a:srgbClr val="351C75"/>
            </a:solidFill>
            <a:prstDash val="solid"/>
            <a:round/>
            <a:headEnd len="med" w="med" type="none"/>
            <a:tailEnd len="med" w="med" type="triangle"/>
          </a:ln>
        </p:spPr>
      </p:cxnSp>
      <p:cxnSp>
        <p:nvCxnSpPr>
          <p:cNvPr id="91" name="Google Shape;91;p14"/>
          <p:cNvCxnSpPr>
            <a:endCxn id="69" idx="0"/>
          </p:cNvCxnSpPr>
          <p:nvPr/>
        </p:nvCxnSpPr>
        <p:spPr>
          <a:xfrm flipH="1">
            <a:off x="5592232" y="3229914"/>
            <a:ext cx="687900" cy="437700"/>
          </a:xfrm>
          <a:prstGeom prst="straightConnector1">
            <a:avLst/>
          </a:prstGeom>
          <a:noFill/>
          <a:ln cap="flat" cmpd="sng" w="19050">
            <a:solidFill>
              <a:srgbClr val="351C75"/>
            </a:solidFill>
            <a:prstDash val="solid"/>
            <a:round/>
            <a:headEnd len="med" w="med" type="none"/>
            <a:tailEnd len="med" w="med" type="triangle"/>
          </a:ln>
        </p:spPr>
      </p:cxnSp>
      <p:cxnSp>
        <p:nvCxnSpPr>
          <p:cNvPr id="92" name="Google Shape;92;p14"/>
          <p:cNvCxnSpPr>
            <a:endCxn id="70" idx="0"/>
          </p:cNvCxnSpPr>
          <p:nvPr/>
        </p:nvCxnSpPr>
        <p:spPr>
          <a:xfrm flipH="1">
            <a:off x="8011125" y="3223925"/>
            <a:ext cx="2100" cy="443700"/>
          </a:xfrm>
          <a:prstGeom prst="straightConnector1">
            <a:avLst/>
          </a:prstGeom>
          <a:noFill/>
          <a:ln cap="flat" cmpd="sng" w="19050">
            <a:solidFill>
              <a:srgbClr val="351C75"/>
            </a:solidFill>
            <a:prstDash val="solid"/>
            <a:round/>
            <a:headEnd len="med" w="med" type="none"/>
            <a:tailEnd len="med" w="med" type="triangle"/>
          </a:ln>
        </p:spPr>
      </p:cxnSp>
      <p:sp>
        <p:nvSpPr>
          <p:cNvPr id="93" name="Google Shape;93;p14"/>
          <p:cNvSpPr txBox="1"/>
          <p:nvPr/>
        </p:nvSpPr>
        <p:spPr>
          <a:xfrm>
            <a:off x="2099050" y="3229915"/>
            <a:ext cx="1862100" cy="28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20124D"/>
                </a:solidFill>
              </a:rPr>
              <a:t>Slack alerts(via Webhook) + Logs</a:t>
            </a:r>
            <a:endParaRPr sz="800">
              <a:solidFill>
                <a:srgbClr val="20124D"/>
              </a:solidFill>
            </a:endParaRPr>
          </a:p>
        </p:txBody>
      </p:sp>
      <p:sp>
        <p:nvSpPr>
          <p:cNvPr id="94" name="Google Shape;94;p14"/>
          <p:cNvSpPr txBox="1"/>
          <p:nvPr/>
        </p:nvSpPr>
        <p:spPr>
          <a:xfrm>
            <a:off x="4444825" y="3304063"/>
            <a:ext cx="660000" cy="286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rgbClr val="20124D"/>
                </a:solidFill>
              </a:rPr>
              <a:t>Pod Logs</a:t>
            </a:r>
            <a:endParaRPr sz="800">
              <a:solidFill>
                <a:srgbClr val="20124D"/>
              </a:solidFill>
            </a:endParaRPr>
          </a:p>
        </p:txBody>
      </p:sp>
      <p:sp>
        <p:nvSpPr>
          <p:cNvPr id="95" name="Google Shape;95;p14"/>
          <p:cNvSpPr txBox="1"/>
          <p:nvPr/>
        </p:nvSpPr>
        <p:spPr>
          <a:xfrm>
            <a:off x="5853775" y="3364150"/>
            <a:ext cx="740700" cy="286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rgbClr val="20124D"/>
                </a:solidFill>
              </a:rPr>
              <a:t>(Notebooks)</a:t>
            </a:r>
            <a:endParaRPr sz="800">
              <a:solidFill>
                <a:srgbClr val="20124D"/>
              </a:solidFill>
            </a:endParaRPr>
          </a:p>
        </p:txBody>
      </p:sp>
      <p:sp>
        <p:nvSpPr>
          <p:cNvPr id="96" name="Google Shape;96;p14"/>
          <p:cNvSpPr txBox="1"/>
          <p:nvPr/>
        </p:nvSpPr>
        <p:spPr>
          <a:xfrm>
            <a:off x="7999025" y="3364150"/>
            <a:ext cx="740700" cy="286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rgbClr val="20124D"/>
                </a:solidFill>
              </a:rPr>
              <a:t>Dashboard</a:t>
            </a:r>
            <a:endParaRPr sz="800">
              <a:solidFill>
                <a:srgbClr val="20124D"/>
              </a:solidFill>
            </a:endParaRPr>
          </a:p>
        </p:txBody>
      </p:sp>
      <p:sp>
        <p:nvSpPr>
          <p:cNvPr id="97" name="Google Shape;97;p14"/>
          <p:cNvSpPr txBox="1"/>
          <p:nvPr/>
        </p:nvSpPr>
        <p:spPr>
          <a:xfrm>
            <a:off x="6300216" y="2334750"/>
            <a:ext cx="740700" cy="286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solidFill>
                  <a:srgbClr val="20124D"/>
                </a:solidFill>
              </a:rPr>
              <a:t>query/read</a:t>
            </a:r>
            <a:endParaRPr sz="800">
              <a:solidFill>
                <a:srgbClr val="20124D"/>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5"/>
          <p:cNvSpPr txBox="1"/>
          <p:nvPr>
            <p:ph type="title"/>
          </p:nvPr>
        </p:nvSpPr>
        <p:spPr>
          <a:xfrm>
            <a:off x="311700" y="126581"/>
            <a:ext cx="85206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en" sz="2420">
                <a:solidFill>
                  <a:srgbClr val="073763"/>
                </a:solidFill>
              </a:rPr>
              <a:t>Features Implemented</a:t>
            </a:r>
            <a:endParaRPr b="1" sz="2420">
              <a:solidFill>
                <a:srgbClr val="073763"/>
              </a:solidFill>
            </a:endParaRPr>
          </a:p>
        </p:txBody>
      </p:sp>
      <p:graphicFrame>
        <p:nvGraphicFramePr>
          <p:cNvPr id="103" name="Google Shape;103;p15"/>
          <p:cNvGraphicFramePr/>
          <p:nvPr/>
        </p:nvGraphicFramePr>
        <p:xfrm>
          <a:off x="446313" y="1840050"/>
          <a:ext cx="3000000" cy="3000000"/>
        </p:xfrm>
        <a:graphic>
          <a:graphicData uri="http://schemas.openxmlformats.org/drawingml/2006/table">
            <a:tbl>
              <a:tblPr>
                <a:noFill/>
                <a:tableStyleId>{E285D5DB-B530-4C2D-8D7B-68AB4FBAC7CB}</a:tableStyleId>
              </a:tblPr>
              <a:tblGrid>
                <a:gridCol w="1225200"/>
                <a:gridCol w="2698175"/>
                <a:gridCol w="1650625"/>
                <a:gridCol w="1791950"/>
                <a:gridCol w="885425"/>
              </a:tblGrid>
              <a:tr h="309550">
                <a:tc>
                  <a:txBody>
                    <a:bodyPr/>
                    <a:lstStyle/>
                    <a:p>
                      <a:pPr indent="0" lvl="0" marL="0" rtl="0" algn="l">
                        <a:lnSpc>
                          <a:spcPct val="60000"/>
                        </a:lnSpc>
                        <a:spcBef>
                          <a:spcPts val="0"/>
                        </a:spcBef>
                        <a:spcAft>
                          <a:spcPts val="0"/>
                        </a:spcAft>
                        <a:buNone/>
                      </a:pPr>
                      <a:r>
                        <a:rPr b="1" lang="en" sz="1200">
                          <a:solidFill>
                            <a:srgbClr val="20124D"/>
                          </a:solidFill>
                        </a:rPr>
                        <a:t>Phase 3</a:t>
                      </a:r>
                      <a:endParaRPr b="1" sz="12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gridSpan="4">
                  <a:txBody>
                    <a:bodyPr/>
                    <a:lstStyle/>
                    <a:p>
                      <a:pPr indent="0" lvl="0" marL="0" rtl="0" algn="l">
                        <a:lnSpc>
                          <a:spcPct val="60000"/>
                        </a:lnSpc>
                        <a:spcBef>
                          <a:spcPts val="0"/>
                        </a:spcBef>
                        <a:spcAft>
                          <a:spcPts val="1200"/>
                        </a:spcAft>
                        <a:buNone/>
                      </a:pPr>
                      <a:r>
                        <a:rPr b="1" lang="en" sz="1200">
                          <a:solidFill>
                            <a:srgbClr val="20124D"/>
                          </a:solidFill>
                        </a:rPr>
                        <a:t>Integration &amp; Features</a:t>
                      </a:r>
                      <a:endParaRPr b="1" sz="12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hMerge="1"/>
                <a:tc hMerge="1"/>
                <a:tc hMerge="1"/>
              </a:tr>
              <a:tr h="305825">
                <a:tc rowSpan="2">
                  <a:txBody>
                    <a:bodyPr/>
                    <a:lstStyle/>
                    <a:p>
                      <a:pPr indent="0" lvl="0" marL="0" rtl="0" algn="l">
                        <a:lnSpc>
                          <a:spcPct val="60000"/>
                        </a:lnSpc>
                        <a:spcBef>
                          <a:spcPts val="0"/>
                        </a:spcBef>
                        <a:spcAft>
                          <a:spcPts val="0"/>
                        </a:spcAft>
                        <a:buNone/>
                      </a:pPr>
                      <a:r>
                        <a:rPr lang="en" sz="1100">
                          <a:solidFill>
                            <a:srgbClr val="20124D"/>
                          </a:solidFill>
                        </a:rPr>
                        <a:t>Category A</a:t>
                      </a:r>
                      <a:endParaRPr sz="11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DAD2E9">
                        <a:alpha val="47470"/>
                      </a:srgbClr>
                    </a:solidFill>
                  </a:tcPr>
                </a:tc>
                <a:tc>
                  <a:txBody>
                    <a:bodyPr/>
                    <a:lstStyle/>
                    <a:p>
                      <a:pPr indent="0" lvl="0" marL="0" rtl="0" algn="l">
                        <a:lnSpc>
                          <a:spcPct val="60000"/>
                        </a:lnSpc>
                        <a:spcBef>
                          <a:spcPts val="0"/>
                        </a:spcBef>
                        <a:spcAft>
                          <a:spcPts val="0"/>
                        </a:spcAft>
                        <a:buNone/>
                      </a:pPr>
                      <a:r>
                        <a:rPr b="1" lang="en" sz="1100">
                          <a:solidFill>
                            <a:srgbClr val="20124D"/>
                          </a:solidFill>
                        </a:rPr>
                        <a:t>Basic Alerting</a:t>
                      </a:r>
                      <a:endParaRPr b="1" sz="11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DAD2E9">
                        <a:alpha val="47470"/>
                      </a:srgbClr>
                    </a:solidFill>
                  </a:tcPr>
                </a:tc>
                <a:tc>
                  <a:txBody>
                    <a:bodyPr/>
                    <a:lstStyle/>
                    <a:p>
                      <a:pPr indent="0" lvl="0" marL="0" rtl="0" algn="l">
                        <a:lnSpc>
                          <a:spcPct val="60000"/>
                        </a:lnSpc>
                        <a:spcBef>
                          <a:spcPts val="0"/>
                        </a:spcBef>
                        <a:spcAft>
                          <a:spcPts val="0"/>
                        </a:spcAft>
                        <a:buNone/>
                      </a:pPr>
                      <a:r>
                        <a:rPr lang="en" sz="1000">
                          <a:solidFill>
                            <a:srgbClr val="1F2328"/>
                          </a:solidFill>
                        </a:rPr>
                        <a:t>✅</a:t>
                      </a:r>
                      <a:r>
                        <a:rPr lang="en" sz="1100">
                          <a:solidFill>
                            <a:srgbClr val="20124D"/>
                          </a:solidFill>
                        </a:rPr>
                        <a:t> Working  </a:t>
                      </a:r>
                      <a:endParaRPr sz="11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DAD2E9">
                        <a:alpha val="47470"/>
                      </a:srgbClr>
                    </a:solidFill>
                  </a:tcPr>
                </a:tc>
                <a:tc rowSpan="2">
                  <a:txBody>
                    <a:bodyPr/>
                    <a:lstStyle/>
                    <a:p>
                      <a:pPr indent="0" lvl="0" marL="0" rtl="0" algn="l">
                        <a:lnSpc>
                          <a:spcPct val="60000"/>
                        </a:lnSpc>
                        <a:spcBef>
                          <a:spcPts val="0"/>
                        </a:spcBef>
                        <a:spcAft>
                          <a:spcPts val="0"/>
                        </a:spcAft>
                        <a:buNone/>
                      </a:pPr>
                      <a:r>
                        <a:rPr b="1" lang="en" sz="1100">
                          <a:solidFill>
                            <a:srgbClr val="20124D"/>
                          </a:solidFill>
                        </a:rPr>
                        <a:t>Samritha</a:t>
                      </a:r>
                      <a:endParaRPr b="1" sz="11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DAD2E9">
                        <a:alpha val="47470"/>
                      </a:srgbClr>
                    </a:solidFill>
                  </a:tcPr>
                </a:tc>
                <a:tc>
                  <a:txBody>
                    <a:bodyPr/>
                    <a:lstStyle/>
                    <a:p>
                      <a:pPr indent="0" lvl="0" marL="0" rtl="0" algn="l">
                        <a:lnSpc>
                          <a:spcPct val="60000"/>
                        </a:lnSpc>
                        <a:spcBef>
                          <a:spcPts val="0"/>
                        </a:spcBef>
                        <a:spcAft>
                          <a:spcPts val="0"/>
                        </a:spcAft>
                        <a:buNone/>
                      </a:pPr>
                      <a:r>
                        <a:rPr lang="en" sz="1100">
                          <a:solidFill>
                            <a:srgbClr val="20124D"/>
                          </a:solidFill>
                        </a:rPr>
                        <a:t>20 pts</a:t>
                      </a:r>
                      <a:endParaRPr sz="11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DAD2E9">
                        <a:alpha val="47470"/>
                      </a:srgbClr>
                    </a:solidFill>
                  </a:tcPr>
                </a:tc>
              </a:tr>
              <a:tr h="305825">
                <a:tc vMerge="1"/>
                <a:tc>
                  <a:txBody>
                    <a:bodyPr/>
                    <a:lstStyle/>
                    <a:p>
                      <a:pPr indent="0" lvl="0" marL="0" rtl="0" algn="l">
                        <a:lnSpc>
                          <a:spcPct val="60000"/>
                        </a:lnSpc>
                        <a:spcBef>
                          <a:spcPts val="0"/>
                        </a:spcBef>
                        <a:spcAft>
                          <a:spcPts val="0"/>
                        </a:spcAft>
                        <a:buNone/>
                      </a:pPr>
                      <a:r>
                        <a:rPr b="1" lang="en" sz="1100">
                          <a:solidFill>
                            <a:srgbClr val="20124D"/>
                          </a:solidFill>
                        </a:rPr>
                        <a:t>Advanced Alerting</a:t>
                      </a:r>
                      <a:endParaRPr b="1" sz="11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DAD2E9">
                        <a:alpha val="47470"/>
                      </a:srgbClr>
                    </a:solidFill>
                  </a:tcPr>
                </a:tc>
                <a:tc>
                  <a:txBody>
                    <a:bodyPr/>
                    <a:lstStyle/>
                    <a:p>
                      <a:pPr indent="0" lvl="0" marL="0" rtl="0" algn="l">
                        <a:lnSpc>
                          <a:spcPct val="60000"/>
                        </a:lnSpc>
                        <a:spcBef>
                          <a:spcPts val="0"/>
                        </a:spcBef>
                        <a:spcAft>
                          <a:spcPts val="0"/>
                        </a:spcAft>
                        <a:buNone/>
                      </a:pPr>
                      <a:r>
                        <a:rPr lang="en" sz="1000">
                          <a:solidFill>
                            <a:srgbClr val="1F2328"/>
                          </a:solidFill>
                        </a:rPr>
                        <a:t>✅</a:t>
                      </a:r>
                      <a:r>
                        <a:rPr lang="en" sz="1100">
                          <a:solidFill>
                            <a:srgbClr val="20124D"/>
                          </a:solidFill>
                        </a:rPr>
                        <a:t> Working  </a:t>
                      </a:r>
                      <a:endParaRPr sz="11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DAD2E9">
                        <a:alpha val="47470"/>
                      </a:srgbClr>
                    </a:solidFill>
                  </a:tcPr>
                </a:tc>
                <a:tc vMerge="1"/>
                <a:tc>
                  <a:txBody>
                    <a:bodyPr/>
                    <a:lstStyle/>
                    <a:p>
                      <a:pPr indent="0" lvl="0" marL="0" rtl="0" algn="l">
                        <a:lnSpc>
                          <a:spcPct val="60000"/>
                        </a:lnSpc>
                        <a:spcBef>
                          <a:spcPts val="0"/>
                        </a:spcBef>
                        <a:spcAft>
                          <a:spcPts val="0"/>
                        </a:spcAft>
                        <a:buNone/>
                      </a:pPr>
                      <a:r>
                        <a:rPr lang="en" sz="1100">
                          <a:solidFill>
                            <a:srgbClr val="20124D"/>
                          </a:solidFill>
                        </a:rPr>
                        <a:t>30 pts</a:t>
                      </a:r>
                      <a:endParaRPr sz="11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DAD2E9">
                        <a:alpha val="47470"/>
                      </a:srgbClr>
                    </a:solidFill>
                  </a:tcPr>
                </a:tc>
              </a:tr>
              <a:tr h="305825">
                <a:tc rowSpan="2">
                  <a:txBody>
                    <a:bodyPr/>
                    <a:lstStyle/>
                    <a:p>
                      <a:pPr indent="0" lvl="0" marL="0" rtl="0" algn="l">
                        <a:lnSpc>
                          <a:spcPct val="60000"/>
                        </a:lnSpc>
                        <a:spcBef>
                          <a:spcPts val="0"/>
                        </a:spcBef>
                        <a:spcAft>
                          <a:spcPts val="0"/>
                        </a:spcAft>
                        <a:buNone/>
                      </a:pPr>
                      <a:r>
                        <a:rPr lang="en" sz="1100">
                          <a:solidFill>
                            <a:srgbClr val="20124D"/>
                          </a:solidFill>
                        </a:rPr>
                        <a:t>Category B</a:t>
                      </a:r>
                      <a:endParaRPr sz="11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l">
                        <a:lnSpc>
                          <a:spcPct val="60000"/>
                        </a:lnSpc>
                        <a:spcBef>
                          <a:spcPts val="0"/>
                        </a:spcBef>
                        <a:spcAft>
                          <a:spcPts val="0"/>
                        </a:spcAft>
                        <a:buNone/>
                      </a:pPr>
                      <a:r>
                        <a:rPr b="1" lang="en" sz="1100">
                          <a:solidFill>
                            <a:srgbClr val="20124D"/>
                          </a:solidFill>
                        </a:rPr>
                        <a:t>Anomaly</a:t>
                      </a:r>
                      <a:r>
                        <a:rPr b="1" lang="en" sz="1100">
                          <a:solidFill>
                            <a:srgbClr val="20124D"/>
                          </a:solidFill>
                        </a:rPr>
                        <a:t> </a:t>
                      </a:r>
                      <a:r>
                        <a:rPr b="1" lang="en" sz="1100">
                          <a:solidFill>
                            <a:srgbClr val="20124D"/>
                          </a:solidFill>
                        </a:rPr>
                        <a:t>Detection</a:t>
                      </a:r>
                      <a:endParaRPr b="1" sz="11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l">
                        <a:lnSpc>
                          <a:spcPct val="60000"/>
                        </a:lnSpc>
                        <a:spcBef>
                          <a:spcPts val="0"/>
                        </a:spcBef>
                        <a:spcAft>
                          <a:spcPts val="0"/>
                        </a:spcAft>
                        <a:buNone/>
                      </a:pPr>
                      <a:r>
                        <a:rPr lang="en" sz="1000">
                          <a:solidFill>
                            <a:srgbClr val="1F2328"/>
                          </a:solidFill>
                        </a:rPr>
                        <a:t>✅</a:t>
                      </a:r>
                      <a:r>
                        <a:rPr lang="en" sz="1100">
                          <a:solidFill>
                            <a:srgbClr val="20124D"/>
                          </a:solidFill>
                        </a:rPr>
                        <a:t> Working  </a:t>
                      </a:r>
                      <a:endParaRPr sz="11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rowSpan="2">
                  <a:txBody>
                    <a:bodyPr/>
                    <a:lstStyle/>
                    <a:p>
                      <a:pPr indent="0" lvl="0" marL="0" rtl="0" algn="l">
                        <a:lnSpc>
                          <a:spcPct val="60000"/>
                        </a:lnSpc>
                        <a:spcBef>
                          <a:spcPts val="0"/>
                        </a:spcBef>
                        <a:spcAft>
                          <a:spcPts val="0"/>
                        </a:spcAft>
                        <a:buNone/>
                      </a:pPr>
                      <a:r>
                        <a:rPr b="1" lang="en" sz="1100">
                          <a:solidFill>
                            <a:srgbClr val="20124D"/>
                          </a:solidFill>
                        </a:rPr>
                        <a:t>Samritha</a:t>
                      </a:r>
                      <a:endParaRPr b="1" sz="11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l">
                        <a:lnSpc>
                          <a:spcPct val="60000"/>
                        </a:lnSpc>
                        <a:spcBef>
                          <a:spcPts val="0"/>
                        </a:spcBef>
                        <a:spcAft>
                          <a:spcPts val="0"/>
                        </a:spcAft>
                        <a:buNone/>
                      </a:pPr>
                      <a:r>
                        <a:rPr lang="en" sz="1100">
                          <a:solidFill>
                            <a:srgbClr val="20124D"/>
                          </a:solidFill>
                        </a:rPr>
                        <a:t>25 pts</a:t>
                      </a:r>
                      <a:endParaRPr sz="11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305825">
                <a:tc vMerge="1"/>
                <a:tc>
                  <a:txBody>
                    <a:bodyPr/>
                    <a:lstStyle/>
                    <a:p>
                      <a:pPr indent="0" lvl="0" marL="0" rtl="0" algn="l">
                        <a:lnSpc>
                          <a:spcPct val="60000"/>
                        </a:lnSpc>
                        <a:spcBef>
                          <a:spcPts val="0"/>
                        </a:spcBef>
                        <a:spcAft>
                          <a:spcPts val="0"/>
                        </a:spcAft>
                        <a:buNone/>
                      </a:pPr>
                      <a:r>
                        <a:rPr b="1" lang="en" sz="1100">
                          <a:solidFill>
                            <a:srgbClr val="20124D"/>
                          </a:solidFill>
                        </a:rPr>
                        <a:t>Outbreak Prediction</a:t>
                      </a:r>
                      <a:endParaRPr b="1" sz="11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l">
                        <a:lnSpc>
                          <a:spcPct val="60000"/>
                        </a:lnSpc>
                        <a:spcBef>
                          <a:spcPts val="0"/>
                        </a:spcBef>
                        <a:spcAft>
                          <a:spcPts val="0"/>
                        </a:spcAft>
                        <a:buNone/>
                      </a:pPr>
                      <a:r>
                        <a:rPr lang="en" sz="1000">
                          <a:solidFill>
                            <a:srgbClr val="1F2328"/>
                          </a:solidFill>
                        </a:rPr>
                        <a:t>✅</a:t>
                      </a:r>
                      <a:r>
                        <a:rPr lang="en" sz="1100">
                          <a:solidFill>
                            <a:srgbClr val="20124D"/>
                          </a:solidFill>
                        </a:rPr>
                        <a:t> Working  </a:t>
                      </a:r>
                      <a:endParaRPr sz="11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vMerge="1"/>
                <a:tc>
                  <a:txBody>
                    <a:bodyPr/>
                    <a:lstStyle/>
                    <a:p>
                      <a:pPr indent="0" lvl="0" marL="0" rtl="0" algn="l">
                        <a:lnSpc>
                          <a:spcPct val="60000"/>
                        </a:lnSpc>
                        <a:spcBef>
                          <a:spcPts val="0"/>
                        </a:spcBef>
                        <a:spcAft>
                          <a:spcPts val="0"/>
                        </a:spcAft>
                        <a:buNone/>
                      </a:pPr>
                      <a:r>
                        <a:rPr lang="en" sz="1100">
                          <a:solidFill>
                            <a:srgbClr val="20124D"/>
                          </a:solidFill>
                        </a:rPr>
                        <a:t>35 pts</a:t>
                      </a:r>
                      <a:endParaRPr sz="11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305825">
                <a:tc>
                  <a:txBody>
                    <a:bodyPr/>
                    <a:lstStyle/>
                    <a:p>
                      <a:pPr indent="0" lvl="0" marL="0" rtl="0" algn="l">
                        <a:lnSpc>
                          <a:spcPct val="60000"/>
                        </a:lnSpc>
                        <a:spcBef>
                          <a:spcPts val="0"/>
                        </a:spcBef>
                        <a:spcAft>
                          <a:spcPts val="0"/>
                        </a:spcAft>
                        <a:buNone/>
                      </a:pPr>
                      <a:r>
                        <a:rPr lang="en" sz="1100">
                          <a:solidFill>
                            <a:srgbClr val="20124D"/>
                          </a:solidFill>
                        </a:rPr>
                        <a:t>Category C</a:t>
                      </a:r>
                      <a:endParaRPr sz="11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DAD2E9">
                        <a:alpha val="47470"/>
                      </a:srgbClr>
                    </a:solidFill>
                  </a:tcPr>
                </a:tc>
                <a:tc>
                  <a:txBody>
                    <a:bodyPr/>
                    <a:lstStyle/>
                    <a:p>
                      <a:pPr indent="0" lvl="0" marL="0" rtl="0" algn="l">
                        <a:lnSpc>
                          <a:spcPct val="60000"/>
                        </a:lnSpc>
                        <a:spcBef>
                          <a:spcPts val="0"/>
                        </a:spcBef>
                        <a:spcAft>
                          <a:spcPts val="0"/>
                        </a:spcAft>
                        <a:buNone/>
                      </a:pPr>
                      <a:r>
                        <a:rPr b="1" lang="en" sz="1100">
                          <a:solidFill>
                            <a:srgbClr val="20124D"/>
                          </a:solidFill>
                        </a:rPr>
                        <a:t>Visualisation</a:t>
                      </a:r>
                      <a:endParaRPr b="1" sz="11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DAD2E9">
                        <a:alpha val="47470"/>
                      </a:srgbClr>
                    </a:solidFill>
                  </a:tcPr>
                </a:tc>
                <a:tc>
                  <a:txBody>
                    <a:bodyPr/>
                    <a:lstStyle/>
                    <a:p>
                      <a:pPr indent="0" lvl="0" marL="0" rtl="0" algn="l">
                        <a:lnSpc>
                          <a:spcPct val="60000"/>
                        </a:lnSpc>
                        <a:spcBef>
                          <a:spcPts val="0"/>
                        </a:spcBef>
                        <a:spcAft>
                          <a:spcPts val="0"/>
                        </a:spcAft>
                        <a:buNone/>
                      </a:pPr>
                      <a:r>
                        <a:rPr lang="en" sz="1000">
                          <a:solidFill>
                            <a:srgbClr val="1F2328"/>
                          </a:solidFill>
                        </a:rPr>
                        <a:t>✅</a:t>
                      </a:r>
                      <a:r>
                        <a:rPr lang="en" sz="1100">
                          <a:solidFill>
                            <a:srgbClr val="20124D"/>
                          </a:solidFill>
                        </a:rPr>
                        <a:t> Completed  </a:t>
                      </a:r>
                      <a:endParaRPr sz="11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DAD2E9">
                        <a:alpha val="47470"/>
                      </a:srgbClr>
                    </a:solidFill>
                  </a:tcPr>
                </a:tc>
                <a:tc>
                  <a:txBody>
                    <a:bodyPr/>
                    <a:lstStyle/>
                    <a:p>
                      <a:pPr indent="0" lvl="0" marL="0" rtl="0" algn="l">
                        <a:lnSpc>
                          <a:spcPct val="60000"/>
                        </a:lnSpc>
                        <a:spcBef>
                          <a:spcPts val="0"/>
                        </a:spcBef>
                        <a:spcAft>
                          <a:spcPts val="0"/>
                        </a:spcAft>
                        <a:buNone/>
                      </a:pPr>
                      <a:r>
                        <a:rPr b="1" lang="en" sz="1100">
                          <a:solidFill>
                            <a:srgbClr val="20124D"/>
                          </a:solidFill>
                        </a:rPr>
                        <a:t>Samritha</a:t>
                      </a:r>
                      <a:endParaRPr b="1" sz="11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DAD2E9">
                        <a:alpha val="47470"/>
                      </a:srgbClr>
                    </a:solidFill>
                  </a:tcPr>
                </a:tc>
                <a:tc>
                  <a:txBody>
                    <a:bodyPr/>
                    <a:lstStyle/>
                    <a:p>
                      <a:pPr indent="0" lvl="0" marL="0" rtl="0" algn="l">
                        <a:lnSpc>
                          <a:spcPct val="60000"/>
                        </a:lnSpc>
                        <a:spcBef>
                          <a:spcPts val="0"/>
                        </a:spcBef>
                        <a:spcAft>
                          <a:spcPts val="0"/>
                        </a:spcAft>
                        <a:buNone/>
                      </a:pPr>
                      <a:r>
                        <a:rPr lang="en" sz="1100">
                          <a:solidFill>
                            <a:srgbClr val="20124D"/>
                          </a:solidFill>
                        </a:rPr>
                        <a:t>15 pts</a:t>
                      </a:r>
                      <a:endParaRPr sz="11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DAD2E9">
                        <a:alpha val="47470"/>
                      </a:srgbClr>
                    </a:solidFill>
                  </a:tcPr>
                </a:tc>
              </a:tr>
              <a:tr h="305825">
                <a:tc rowSpan="2">
                  <a:txBody>
                    <a:bodyPr/>
                    <a:lstStyle/>
                    <a:p>
                      <a:pPr indent="0" lvl="0" marL="0" rtl="0" algn="l">
                        <a:lnSpc>
                          <a:spcPct val="60000"/>
                        </a:lnSpc>
                        <a:spcBef>
                          <a:spcPts val="0"/>
                        </a:spcBef>
                        <a:spcAft>
                          <a:spcPts val="0"/>
                        </a:spcAft>
                        <a:buNone/>
                      </a:pPr>
                      <a:r>
                        <a:rPr lang="en" sz="1100">
                          <a:solidFill>
                            <a:srgbClr val="20124D"/>
                          </a:solidFill>
                        </a:rPr>
                        <a:t>Category D</a:t>
                      </a:r>
                      <a:endParaRPr sz="11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l">
                        <a:lnSpc>
                          <a:spcPct val="60000"/>
                        </a:lnSpc>
                        <a:spcBef>
                          <a:spcPts val="0"/>
                        </a:spcBef>
                        <a:spcAft>
                          <a:spcPts val="0"/>
                        </a:spcAft>
                        <a:buNone/>
                      </a:pPr>
                      <a:r>
                        <a:rPr b="1" lang="en" sz="1100">
                          <a:solidFill>
                            <a:srgbClr val="20124D"/>
                          </a:solidFill>
                        </a:rPr>
                        <a:t>Comprehensive Testing Suite</a:t>
                      </a:r>
                      <a:endParaRPr b="1" sz="11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l">
                        <a:lnSpc>
                          <a:spcPct val="60000"/>
                        </a:lnSpc>
                        <a:spcBef>
                          <a:spcPts val="0"/>
                        </a:spcBef>
                        <a:spcAft>
                          <a:spcPts val="0"/>
                        </a:spcAft>
                        <a:buNone/>
                      </a:pPr>
                      <a:r>
                        <a:rPr lang="en" sz="1000">
                          <a:solidFill>
                            <a:srgbClr val="1F2328"/>
                          </a:solidFill>
                        </a:rPr>
                        <a:t>✅</a:t>
                      </a:r>
                      <a:r>
                        <a:rPr lang="en" sz="1100">
                          <a:solidFill>
                            <a:srgbClr val="20124D"/>
                          </a:solidFill>
                        </a:rPr>
                        <a:t> Completed </a:t>
                      </a:r>
                      <a:endParaRPr sz="11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rowSpan="2">
                  <a:txBody>
                    <a:bodyPr/>
                    <a:lstStyle/>
                    <a:p>
                      <a:pPr indent="0" lvl="0" marL="0" rtl="0" algn="l">
                        <a:lnSpc>
                          <a:spcPct val="60000"/>
                        </a:lnSpc>
                        <a:spcBef>
                          <a:spcPts val="0"/>
                        </a:spcBef>
                        <a:spcAft>
                          <a:spcPts val="0"/>
                        </a:spcAft>
                        <a:buNone/>
                      </a:pPr>
                      <a:r>
                        <a:rPr b="1" lang="en" sz="1100">
                          <a:solidFill>
                            <a:srgbClr val="20124D"/>
                          </a:solidFill>
                        </a:rPr>
                        <a:t>Pranshu</a:t>
                      </a:r>
                      <a:endParaRPr b="1" sz="11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l">
                        <a:lnSpc>
                          <a:spcPct val="60000"/>
                        </a:lnSpc>
                        <a:spcBef>
                          <a:spcPts val="0"/>
                        </a:spcBef>
                        <a:spcAft>
                          <a:spcPts val="0"/>
                        </a:spcAft>
                        <a:buNone/>
                      </a:pPr>
                      <a:r>
                        <a:rPr lang="en" sz="1100">
                          <a:solidFill>
                            <a:srgbClr val="20124D"/>
                          </a:solidFill>
                        </a:rPr>
                        <a:t>20 pts</a:t>
                      </a:r>
                      <a:endParaRPr sz="11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305825">
                <a:tc vMerge="1"/>
                <a:tc>
                  <a:txBody>
                    <a:bodyPr/>
                    <a:lstStyle/>
                    <a:p>
                      <a:pPr indent="0" lvl="0" marL="0" rtl="0" algn="l">
                        <a:lnSpc>
                          <a:spcPct val="60000"/>
                        </a:lnSpc>
                        <a:spcBef>
                          <a:spcPts val="0"/>
                        </a:spcBef>
                        <a:spcAft>
                          <a:spcPts val="0"/>
                        </a:spcAft>
                        <a:buNone/>
                      </a:pPr>
                      <a:r>
                        <a:rPr b="1" lang="en" sz="1100">
                          <a:solidFill>
                            <a:srgbClr val="20124D"/>
                          </a:solidFill>
                        </a:rPr>
                        <a:t>Data Quality Monitoring</a:t>
                      </a:r>
                      <a:endParaRPr b="1" sz="11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l">
                        <a:lnSpc>
                          <a:spcPct val="60000"/>
                        </a:lnSpc>
                        <a:spcBef>
                          <a:spcPts val="0"/>
                        </a:spcBef>
                        <a:spcAft>
                          <a:spcPts val="0"/>
                        </a:spcAft>
                        <a:buNone/>
                      </a:pPr>
                      <a:r>
                        <a:rPr lang="en" sz="1000">
                          <a:solidFill>
                            <a:srgbClr val="1F2328"/>
                          </a:solidFill>
                        </a:rPr>
                        <a:t>✅</a:t>
                      </a:r>
                      <a:r>
                        <a:rPr lang="en" sz="1100">
                          <a:solidFill>
                            <a:srgbClr val="20124D"/>
                          </a:solidFill>
                        </a:rPr>
                        <a:t> Completed </a:t>
                      </a:r>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vMerge="1"/>
                <a:tc>
                  <a:txBody>
                    <a:bodyPr/>
                    <a:lstStyle/>
                    <a:p>
                      <a:pPr indent="0" lvl="0" marL="0" rtl="0" algn="l">
                        <a:lnSpc>
                          <a:spcPct val="60000"/>
                        </a:lnSpc>
                        <a:spcBef>
                          <a:spcPts val="0"/>
                        </a:spcBef>
                        <a:spcAft>
                          <a:spcPts val="0"/>
                        </a:spcAft>
                        <a:buNone/>
                      </a:pPr>
                      <a:r>
                        <a:rPr lang="en" sz="1100">
                          <a:solidFill>
                            <a:srgbClr val="20124D"/>
                          </a:solidFill>
                        </a:rPr>
                        <a:t>25 pts</a:t>
                      </a:r>
                      <a:endParaRPr sz="11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305825">
                <a:tc rowSpan="2">
                  <a:txBody>
                    <a:bodyPr/>
                    <a:lstStyle/>
                    <a:p>
                      <a:pPr indent="0" lvl="0" marL="0" rtl="0" algn="l">
                        <a:lnSpc>
                          <a:spcPct val="60000"/>
                        </a:lnSpc>
                        <a:spcBef>
                          <a:spcPts val="0"/>
                        </a:spcBef>
                        <a:spcAft>
                          <a:spcPts val="0"/>
                        </a:spcAft>
                        <a:buNone/>
                      </a:pPr>
                      <a:r>
                        <a:rPr lang="en" sz="1100">
                          <a:solidFill>
                            <a:srgbClr val="20124D"/>
                          </a:solidFill>
                        </a:rPr>
                        <a:t>Extra Credit</a:t>
                      </a:r>
                      <a:endParaRPr sz="11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DAD2E9">
                        <a:alpha val="47470"/>
                      </a:srgbClr>
                    </a:solidFill>
                  </a:tcPr>
                </a:tc>
                <a:tc>
                  <a:txBody>
                    <a:bodyPr/>
                    <a:lstStyle/>
                    <a:p>
                      <a:pPr indent="0" lvl="0" marL="0" rtl="0" algn="l">
                        <a:lnSpc>
                          <a:spcPct val="60000"/>
                        </a:lnSpc>
                        <a:spcBef>
                          <a:spcPts val="0"/>
                        </a:spcBef>
                        <a:spcAft>
                          <a:spcPts val="0"/>
                        </a:spcAft>
                        <a:buNone/>
                      </a:pPr>
                      <a:r>
                        <a:rPr b="1" lang="en" sz="1100">
                          <a:solidFill>
                            <a:srgbClr val="20124D"/>
                          </a:solidFill>
                        </a:rPr>
                        <a:t>Grafana Dashboard</a:t>
                      </a:r>
                      <a:endParaRPr b="1" sz="11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DAD2E9">
                        <a:alpha val="47470"/>
                      </a:srgbClr>
                    </a:solidFill>
                  </a:tcPr>
                </a:tc>
                <a:tc>
                  <a:txBody>
                    <a:bodyPr/>
                    <a:lstStyle/>
                    <a:p>
                      <a:pPr indent="0" lvl="0" marL="0" rtl="0" algn="l">
                        <a:lnSpc>
                          <a:spcPct val="60000"/>
                        </a:lnSpc>
                        <a:spcBef>
                          <a:spcPts val="0"/>
                        </a:spcBef>
                        <a:spcAft>
                          <a:spcPts val="0"/>
                        </a:spcAft>
                        <a:buNone/>
                      </a:pPr>
                      <a:r>
                        <a:rPr lang="en" sz="1000">
                          <a:solidFill>
                            <a:srgbClr val="1F2328"/>
                          </a:solidFill>
                        </a:rPr>
                        <a:t>✅</a:t>
                      </a:r>
                      <a:r>
                        <a:rPr lang="en" sz="1100">
                          <a:solidFill>
                            <a:srgbClr val="20124D"/>
                          </a:solidFill>
                        </a:rPr>
                        <a:t> Completed </a:t>
                      </a:r>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DAD2E9">
                        <a:alpha val="47470"/>
                      </a:srgbClr>
                    </a:solidFill>
                  </a:tcPr>
                </a:tc>
                <a:tc>
                  <a:txBody>
                    <a:bodyPr/>
                    <a:lstStyle/>
                    <a:p>
                      <a:pPr indent="0" lvl="0" marL="0" rtl="0" algn="l">
                        <a:lnSpc>
                          <a:spcPct val="60000"/>
                        </a:lnSpc>
                        <a:spcBef>
                          <a:spcPts val="0"/>
                        </a:spcBef>
                        <a:spcAft>
                          <a:spcPts val="0"/>
                        </a:spcAft>
                        <a:buClr>
                          <a:schemeClr val="dk1"/>
                        </a:buClr>
                        <a:buSzPts val="1100"/>
                        <a:buFont typeface="Arial"/>
                        <a:buNone/>
                      </a:pPr>
                      <a:r>
                        <a:rPr b="1" lang="en" sz="1100">
                          <a:solidFill>
                            <a:srgbClr val="20124D"/>
                          </a:solidFill>
                        </a:rPr>
                        <a:t>Pranshu</a:t>
                      </a:r>
                      <a:endParaRPr b="1" sz="11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DAD2E9">
                        <a:alpha val="47470"/>
                      </a:srgbClr>
                    </a:solidFill>
                  </a:tcPr>
                </a:tc>
                <a:tc>
                  <a:txBody>
                    <a:bodyPr/>
                    <a:lstStyle/>
                    <a:p>
                      <a:pPr indent="0" lvl="0" marL="0" rtl="0" algn="l">
                        <a:lnSpc>
                          <a:spcPct val="60000"/>
                        </a:lnSpc>
                        <a:spcBef>
                          <a:spcPts val="0"/>
                        </a:spcBef>
                        <a:spcAft>
                          <a:spcPts val="0"/>
                        </a:spcAft>
                        <a:buNone/>
                      </a:pPr>
                      <a:r>
                        <a:rPr lang="en" sz="1100">
                          <a:solidFill>
                            <a:srgbClr val="20124D"/>
                          </a:solidFill>
                        </a:rPr>
                        <a:t>15</a:t>
                      </a:r>
                      <a:r>
                        <a:rPr lang="en" sz="1100">
                          <a:solidFill>
                            <a:srgbClr val="1F2328"/>
                          </a:solidFill>
                        </a:rPr>
                        <a:t>–</a:t>
                      </a:r>
                      <a:r>
                        <a:rPr lang="en" sz="1100">
                          <a:solidFill>
                            <a:srgbClr val="20124D"/>
                          </a:solidFill>
                        </a:rPr>
                        <a:t>30 pts</a:t>
                      </a:r>
                      <a:endParaRPr sz="11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DAD2E9">
                        <a:alpha val="47470"/>
                      </a:srgbClr>
                    </a:solidFill>
                  </a:tcPr>
                </a:tc>
              </a:tr>
              <a:tr h="305825">
                <a:tc vMerge="1"/>
                <a:tc>
                  <a:txBody>
                    <a:bodyPr/>
                    <a:lstStyle/>
                    <a:p>
                      <a:pPr indent="0" lvl="0" marL="0" rtl="0" algn="l">
                        <a:lnSpc>
                          <a:spcPct val="60000"/>
                        </a:lnSpc>
                        <a:spcBef>
                          <a:spcPts val="0"/>
                        </a:spcBef>
                        <a:spcAft>
                          <a:spcPts val="0"/>
                        </a:spcAft>
                        <a:buNone/>
                      </a:pPr>
                      <a:r>
                        <a:rPr b="1" lang="en" sz="1100">
                          <a:solidFill>
                            <a:srgbClr val="20124D"/>
                          </a:solidFill>
                        </a:rPr>
                        <a:t>ML Model </a:t>
                      </a:r>
                      <a:r>
                        <a:rPr b="1" lang="en" sz="1100">
                          <a:solidFill>
                            <a:srgbClr val="20124D"/>
                          </a:solidFill>
                        </a:rPr>
                        <a:t>Comparison</a:t>
                      </a:r>
                      <a:endParaRPr b="1" sz="11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DAD2E9">
                        <a:alpha val="47470"/>
                      </a:srgbClr>
                    </a:solidFill>
                  </a:tcPr>
                </a:tc>
                <a:tc>
                  <a:txBody>
                    <a:bodyPr/>
                    <a:lstStyle/>
                    <a:p>
                      <a:pPr indent="0" lvl="0" marL="0" rtl="0" algn="l">
                        <a:lnSpc>
                          <a:spcPct val="60000"/>
                        </a:lnSpc>
                        <a:spcBef>
                          <a:spcPts val="0"/>
                        </a:spcBef>
                        <a:spcAft>
                          <a:spcPts val="0"/>
                        </a:spcAft>
                        <a:buNone/>
                      </a:pPr>
                      <a:r>
                        <a:rPr lang="en" sz="1000">
                          <a:solidFill>
                            <a:srgbClr val="1F2328"/>
                          </a:solidFill>
                        </a:rPr>
                        <a:t>✅</a:t>
                      </a:r>
                      <a:r>
                        <a:rPr lang="en" sz="1100">
                          <a:solidFill>
                            <a:srgbClr val="20124D"/>
                          </a:solidFill>
                        </a:rPr>
                        <a:t> Completed </a:t>
                      </a:r>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DAD2E9">
                        <a:alpha val="47470"/>
                      </a:srgbClr>
                    </a:solidFill>
                  </a:tcPr>
                </a:tc>
                <a:tc>
                  <a:txBody>
                    <a:bodyPr/>
                    <a:lstStyle/>
                    <a:p>
                      <a:pPr indent="0" lvl="0" marL="0" rtl="0" algn="l">
                        <a:lnSpc>
                          <a:spcPct val="60000"/>
                        </a:lnSpc>
                        <a:spcBef>
                          <a:spcPts val="0"/>
                        </a:spcBef>
                        <a:spcAft>
                          <a:spcPts val="0"/>
                        </a:spcAft>
                        <a:buClr>
                          <a:schemeClr val="dk1"/>
                        </a:buClr>
                        <a:buSzPts val="1100"/>
                        <a:buFont typeface="Arial"/>
                        <a:buNone/>
                      </a:pPr>
                      <a:r>
                        <a:rPr b="1" lang="en" sz="1100">
                          <a:solidFill>
                            <a:srgbClr val="20124D"/>
                          </a:solidFill>
                        </a:rPr>
                        <a:t>Pranshu &amp; Joshua</a:t>
                      </a:r>
                      <a:endParaRPr b="1" sz="11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DAD2E9">
                        <a:alpha val="47470"/>
                      </a:srgbClr>
                    </a:solidFill>
                  </a:tcPr>
                </a:tc>
                <a:tc>
                  <a:txBody>
                    <a:bodyPr/>
                    <a:lstStyle/>
                    <a:p>
                      <a:pPr indent="0" lvl="0" marL="0" rtl="0" algn="l">
                        <a:lnSpc>
                          <a:spcPct val="60000"/>
                        </a:lnSpc>
                        <a:spcBef>
                          <a:spcPts val="0"/>
                        </a:spcBef>
                        <a:spcAft>
                          <a:spcPts val="0"/>
                        </a:spcAft>
                        <a:buNone/>
                      </a:pPr>
                      <a:r>
                        <a:rPr lang="en" sz="1100">
                          <a:solidFill>
                            <a:srgbClr val="20124D"/>
                          </a:solidFill>
                        </a:rPr>
                        <a:t>15</a:t>
                      </a:r>
                      <a:r>
                        <a:rPr lang="en" sz="1100">
                          <a:solidFill>
                            <a:srgbClr val="1F2328"/>
                          </a:solidFill>
                        </a:rPr>
                        <a:t>–</a:t>
                      </a:r>
                      <a:r>
                        <a:rPr lang="en" sz="1100">
                          <a:solidFill>
                            <a:srgbClr val="20124D"/>
                          </a:solidFill>
                        </a:rPr>
                        <a:t>35 pts</a:t>
                      </a:r>
                      <a:endParaRPr sz="11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DAD2E9">
                        <a:alpha val="47470"/>
                      </a:srgbClr>
                    </a:solidFill>
                  </a:tcPr>
                </a:tc>
              </a:tr>
            </a:tbl>
          </a:graphicData>
        </a:graphic>
      </p:graphicFrame>
      <p:graphicFrame>
        <p:nvGraphicFramePr>
          <p:cNvPr id="104" name="Google Shape;104;p15"/>
          <p:cNvGraphicFramePr/>
          <p:nvPr/>
        </p:nvGraphicFramePr>
        <p:xfrm>
          <a:off x="446313" y="699275"/>
          <a:ext cx="3000000" cy="3000000"/>
        </p:xfrm>
        <a:graphic>
          <a:graphicData uri="http://schemas.openxmlformats.org/drawingml/2006/table">
            <a:tbl>
              <a:tblPr>
                <a:noFill/>
                <a:tableStyleId>{E285D5DB-B530-4C2D-8D7B-68AB4FBAC7CB}</a:tableStyleId>
              </a:tblPr>
              <a:tblGrid>
                <a:gridCol w="1225200"/>
                <a:gridCol w="2698175"/>
                <a:gridCol w="1650625"/>
                <a:gridCol w="1791950"/>
                <a:gridCol w="885425"/>
              </a:tblGrid>
              <a:tr h="339350">
                <a:tc>
                  <a:txBody>
                    <a:bodyPr/>
                    <a:lstStyle/>
                    <a:p>
                      <a:pPr indent="0" lvl="0" marL="0" rtl="0" algn="l">
                        <a:lnSpc>
                          <a:spcPct val="60000"/>
                        </a:lnSpc>
                        <a:spcBef>
                          <a:spcPts val="0"/>
                        </a:spcBef>
                        <a:spcAft>
                          <a:spcPts val="0"/>
                        </a:spcAft>
                        <a:buNone/>
                      </a:pPr>
                      <a:r>
                        <a:rPr b="1" lang="en">
                          <a:solidFill>
                            <a:srgbClr val="20124D"/>
                          </a:solidFill>
                        </a:rPr>
                        <a:t>Category</a:t>
                      </a:r>
                      <a:endParaRPr b="1">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EFEFEF"/>
                    </a:solidFill>
                  </a:tcPr>
                </a:tc>
                <a:tc>
                  <a:txBody>
                    <a:bodyPr/>
                    <a:lstStyle/>
                    <a:p>
                      <a:pPr indent="0" lvl="0" marL="0" rtl="0" algn="l">
                        <a:lnSpc>
                          <a:spcPct val="60000"/>
                        </a:lnSpc>
                        <a:spcBef>
                          <a:spcPts val="0"/>
                        </a:spcBef>
                        <a:spcAft>
                          <a:spcPts val="0"/>
                        </a:spcAft>
                        <a:buNone/>
                      </a:pPr>
                      <a:r>
                        <a:rPr b="1" lang="en">
                          <a:solidFill>
                            <a:srgbClr val="20124D"/>
                          </a:solidFill>
                        </a:rPr>
                        <a:t>Feature</a:t>
                      </a:r>
                      <a:endParaRPr b="1">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EFEFEF"/>
                    </a:solidFill>
                  </a:tcPr>
                </a:tc>
                <a:tc>
                  <a:txBody>
                    <a:bodyPr/>
                    <a:lstStyle/>
                    <a:p>
                      <a:pPr indent="0" lvl="0" marL="0" rtl="0" algn="l">
                        <a:lnSpc>
                          <a:spcPct val="60000"/>
                        </a:lnSpc>
                        <a:spcBef>
                          <a:spcPts val="0"/>
                        </a:spcBef>
                        <a:spcAft>
                          <a:spcPts val="0"/>
                        </a:spcAft>
                        <a:buNone/>
                      </a:pPr>
                      <a:r>
                        <a:rPr b="1" lang="en">
                          <a:solidFill>
                            <a:srgbClr val="20124D"/>
                          </a:solidFill>
                        </a:rPr>
                        <a:t>Status</a:t>
                      </a:r>
                      <a:endParaRPr b="1">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EFEFEF"/>
                    </a:solidFill>
                  </a:tcPr>
                </a:tc>
                <a:tc>
                  <a:txBody>
                    <a:bodyPr/>
                    <a:lstStyle/>
                    <a:p>
                      <a:pPr indent="0" lvl="0" marL="0" rtl="0" algn="l">
                        <a:lnSpc>
                          <a:spcPct val="60000"/>
                        </a:lnSpc>
                        <a:spcBef>
                          <a:spcPts val="0"/>
                        </a:spcBef>
                        <a:spcAft>
                          <a:spcPts val="0"/>
                        </a:spcAft>
                        <a:buNone/>
                      </a:pPr>
                      <a:r>
                        <a:rPr b="1" lang="en">
                          <a:solidFill>
                            <a:srgbClr val="20124D"/>
                          </a:solidFill>
                        </a:rPr>
                        <a:t>Team Member(s)</a:t>
                      </a:r>
                      <a:endParaRPr b="1">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EFEFEF"/>
                    </a:solidFill>
                  </a:tcPr>
                </a:tc>
                <a:tc>
                  <a:txBody>
                    <a:bodyPr/>
                    <a:lstStyle/>
                    <a:p>
                      <a:pPr indent="0" lvl="0" marL="0" rtl="0" algn="l">
                        <a:lnSpc>
                          <a:spcPct val="60000"/>
                        </a:lnSpc>
                        <a:spcBef>
                          <a:spcPts val="0"/>
                        </a:spcBef>
                        <a:spcAft>
                          <a:spcPts val="0"/>
                        </a:spcAft>
                        <a:buNone/>
                      </a:pPr>
                      <a:r>
                        <a:rPr b="1" lang="en">
                          <a:solidFill>
                            <a:srgbClr val="20124D"/>
                          </a:solidFill>
                        </a:rPr>
                        <a:t>Points</a:t>
                      </a:r>
                      <a:endParaRPr b="1">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EFEFEF"/>
                    </a:solidFill>
                  </a:tcPr>
                </a:tc>
              </a:tr>
            </a:tbl>
          </a:graphicData>
        </a:graphic>
      </p:graphicFrame>
      <p:graphicFrame>
        <p:nvGraphicFramePr>
          <p:cNvPr id="105" name="Google Shape;105;p15"/>
          <p:cNvGraphicFramePr/>
          <p:nvPr/>
        </p:nvGraphicFramePr>
        <p:xfrm>
          <a:off x="446313" y="1129788"/>
          <a:ext cx="3000000" cy="3000000"/>
        </p:xfrm>
        <a:graphic>
          <a:graphicData uri="http://schemas.openxmlformats.org/drawingml/2006/table">
            <a:tbl>
              <a:tblPr>
                <a:noFill/>
                <a:tableStyleId>{E285D5DB-B530-4C2D-8D7B-68AB4FBAC7CB}</a:tableStyleId>
              </a:tblPr>
              <a:tblGrid>
                <a:gridCol w="1225200"/>
                <a:gridCol w="2698175"/>
                <a:gridCol w="1650625"/>
                <a:gridCol w="1791950"/>
                <a:gridCol w="885425"/>
              </a:tblGrid>
              <a:tr h="309550">
                <a:tc>
                  <a:txBody>
                    <a:bodyPr/>
                    <a:lstStyle/>
                    <a:p>
                      <a:pPr indent="0" lvl="0" marL="0" rtl="0" algn="l">
                        <a:lnSpc>
                          <a:spcPct val="60000"/>
                        </a:lnSpc>
                        <a:spcBef>
                          <a:spcPts val="0"/>
                        </a:spcBef>
                        <a:spcAft>
                          <a:spcPts val="0"/>
                        </a:spcAft>
                        <a:buNone/>
                      </a:pPr>
                      <a:r>
                        <a:rPr b="1" lang="en" sz="1200">
                          <a:solidFill>
                            <a:srgbClr val="20124D"/>
                          </a:solidFill>
                        </a:rPr>
                        <a:t>Phase 1</a:t>
                      </a:r>
                      <a:endParaRPr b="1" sz="12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l">
                        <a:lnSpc>
                          <a:spcPct val="60000"/>
                        </a:lnSpc>
                        <a:spcBef>
                          <a:spcPts val="1800"/>
                        </a:spcBef>
                        <a:spcAft>
                          <a:spcPts val="1200"/>
                        </a:spcAft>
                        <a:buNone/>
                      </a:pPr>
                      <a:r>
                        <a:rPr b="1" lang="en" sz="1200">
                          <a:solidFill>
                            <a:srgbClr val="20124D"/>
                          </a:solidFill>
                        </a:rPr>
                        <a:t>Data Ingestion</a:t>
                      </a:r>
                      <a:endParaRPr b="1" sz="12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l">
                        <a:lnSpc>
                          <a:spcPct val="60000"/>
                        </a:lnSpc>
                        <a:spcBef>
                          <a:spcPts val="0"/>
                        </a:spcBef>
                        <a:spcAft>
                          <a:spcPts val="0"/>
                        </a:spcAft>
                        <a:buClr>
                          <a:schemeClr val="dk1"/>
                        </a:buClr>
                        <a:buSzPts val="1100"/>
                        <a:buFont typeface="Arial"/>
                        <a:buNone/>
                      </a:pPr>
                      <a:r>
                        <a:rPr lang="en" sz="1000">
                          <a:solidFill>
                            <a:srgbClr val="1F2328"/>
                          </a:solidFill>
                        </a:rPr>
                        <a:t>✅</a:t>
                      </a:r>
                      <a:r>
                        <a:rPr lang="en" sz="1100">
                          <a:solidFill>
                            <a:srgbClr val="20124D"/>
                          </a:solidFill>
                        </a:rPr>
                        <a:t> Completed </a:t>
                      </a:r>
                      <a:endParaRPr sz="11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l">
                        <a:lnSpc>
                          <a:spcPct val="60000"/>
                        </a:lnSpc>
                        <a:spcBef>
                          <a:spcPts val="0"/>
                        </a:spcBef>
                        <a:spcAft>
                          <a:spcPts val="0"/>
                        </a:spcAft>
                        <a:buNone/>
                      </a:pPr>
                      <a:r>
                        <a:rPr b="1" lang="en" sz="1100">
                          <a:solidFill>
                            <a:srgbClr val="20124D"/>
                          </a:solidFill>
                        </a:rPr>
                        <a:t>Joshua</a:t>
                      </a:r>
                      <a:endParaRPr b="1" sz="11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rtl="0" algn="l">
                        <a:lnSpc>
                          <a:spcPct val="60000"/>
                        </a:lnSpc>
                        <a:spcBef>
                          <a:spcPts val="0"/>
                        </a:spcBef>
                        <a:spcAft>
                          <a:spcPts val="0"/>
                        </a:spcAft>
                        <a:buNone/>
                      </a:pPr>
                      <a:r>
                        <a:rPr lang="en" sz="1100">
                          <a:solidFill>
                            <a:srgbClr val="20124D"/>
                          </a:solidFill>
                        </a:rPr>
                        <a:t>60 pts</a:t>
                      </a:r>
                      <a:endParaRPr sz="11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309550">
                <a:tc>
                  <a:txBody>
                    <a:bodyPr/>
                    <a:lstStyle/>
                    <a:p>
                      <a:pPr indent="0" lvl="0" marL="0" rtl="0" algn="l">
                        <a:lnSpc>
                          <a:spcPct val="60000"/>
                        </a:lnSpc>
                        <a:spcBef>
                          <a:spcPts val="0"/>
                        </a:spcBef>
                        <a:spcAft>
                          <a:spcPts val="0"/>
                        </a:spcAft>
                        <a:buNone/>
                      </a:pPr>
                      <a:r>
                        <a:rPr b="1" lang="en" sz="1200">
                          <a:solidFill>
                            <a:srgbClr val="20124D"/>
                          </a:solidFill>
                        </a:rPr>
                        <a:t>Phase 2</a:t>
                      </a:r>
                      <a:endParaRPr b="1" sz="12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DAD2E9">
                        <a:alpha val="47470"/>
                      </a:srgbClr>
                    </a:solidFill>
                  </a:tcPr>
                </a:tc>
                <a:tc>
                  <a:txBody>
                    <a:bodyPr/>
                    <a:lstStyle/>
                    <a:p>
                      <a:pPr indent="0" lvl="0" marL="0" rtl="0" algn="l">
                        <a:lnSpc>
                          <a:spcPct val="60000"/>
                        </a:lnSpc>
                        <a:spcBef>
                          <a:spcPts val="1800"/>
                        </a:spcBef>
                        <a:spcAft>
                          <a:spcPts val="1200"/>
                        </a:spcAft>
                        <a:buNone/>
                      </a:pPr>
                      <a:r>
                        <a:rPr b="1" lang="en" sz="1200">
                          <a:solidFill>
                            <a:srgbClr val="20124D"/>
                          </a:solidFill>
                        </a:rPr>
                        <a:t>Analytics &amp; Storage</a:t>
                      </a:r>
                      <a:endParaRPr b="1" sz="12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DAD2E9">
                        <a:alpha val="47470"/>
                      </a:srgbClr>
                    </a:solidFill>
                  </a:tcPr>
                </a:tc>
                <a:tc>
                  <a:txBody>
                    <a:bodyPr/>
                    <a:lstStyle/>
                    <a:p>
                      <a:pPr indent="0" lvl="0" marL="0" rtl="0" algn="l">
                        <a:lnSpc>
                          <a:spcPct val="60000"/>
                        </a:lnSpc>
                        <a:spcBef>
                          <a:spcPts val="0"/>
                        </a:spcBef>
                        <a:spcAft>
                          <a:spcPts val="0"/>
                        </a:spcAft>
                        <a:buClr>
                          <a:schemeClr val="dk1"/>
                        </a:buClr>
                        <a:buSzPts val="1100"/>
                        <a:buFont typeface="Arial"/>
                        <a:buNone/>
                      </a:pPr>
                      <a:r>
                        <a:rPr lang="en" sz="1000">
                          <a:solidFill>
                            <a:srgbClr val="1F2328"/>
                          </a:solidFill>
                        </a:rPr>
                        <a:t>✅</a:t>
                      </a:r>
                      <a:r>
                        <a:rPr lang="en" sz="1100">
                          <a:solidFill>
                            <a:srgbClr val="20124D"/>
                          </a:solidFill>
                        </a:rPr>
                        <a:t> Completed   </a:t>
                      </a:r>
                      <a:endParaRPr sz="11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DAD2E9">
                        <a:alpha val="47470"/>
                      </a:srgbClr>
                    </a:solidFill>
                  </a:tcPr>
                </a:tc>
                <a:tc>
                  <a:txBody>
                    <a:bodyPr/>
                    <a:lstStyle/>
                    <a:p>
                      <a:pPr indent="0" lvl="0" marL="0" rtl="0" algn="l">
                        <a:lnSpc>
                          <a:spcPct val="60000"/>
                        </a:lnSpc>
                        <a:spcBef>
                          <a:spcPts val="300"/>
                        </a:spcBef>
                        <a:spcAft>
                          <a:spcPts val="1000"/>
                        </a:spcAft>
                        <a:buNone/>
                      </a:pPr>
                      <a:r>
                        <a:rPr b="1" lang="en" sz="1100">
                          <a:solidFill>
                            <a:srgbClr val="20124D"/>
                          </a:solidFill>
                        </a:rPr>
                        <a:t>Shravani</a:t>
                      </a:r>
                      <a:endParaRPr b="1" sz="11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DAD2E9">
                        <a:alpha val="47470"/>
                      </a:srgbClr>
                    </a:solidFill>
                  </a:tcPr>
                </a:tc>
                <a:tc>
                  <a:txBody>
                    <a:bodyPr/>
                    <a:lstStyle/>
                    <a:p>
                      <a:pPr indent="0" lvl="0" marL="0" rtl="0" algn="l">
                        <a:lnSpc>
                          <a:spcPct val="60000"/>
                        </a:lnSpc>
                        <a:spcBef>
                          <a:spcPts val="0"/>
                        </a:spcBef>
                        <a:spcAft>
                          <a:spcPts val="0"/>
                        </a:spcAft>
                        <a:buNone/>
                      </a:pPr>
                      <a:r>
                        <a:rPr lang="en" sz="1100">
                          <a:solidFill>
                            <a:srgbClr val="20124D"/>
                          </a:solidFill>
                        </a:rPr>
                        <a:t>40 pts</a:t>
                      </a:r>
                      <a:endParaRPr sz="1100">
                        <a:solidFill>
                          <a:srgbClr val="20124D"/>
                        </a:solidFill>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DAD2E9">
                        <a:alpha val="47470"/>
                      </a:srgbClr>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6"/>
          <p:cNvSpPr txBox="1"/>
          <p:nvPr>
            <p:ph type="title"/>
          </p:nvPr>
        </p:nvSpPr>
        <p:spPr>
          <a:xfrm>
            <a:off x="310896" y="128016"/>
            <a:ext cx="85206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en" sz="3600">
                <a:solidFill>
                  <a:srgbClr val="073763"/>
                </a:solidFill>
              </a:rPr>
              <a:t>Technical Deep-Dive</a:t>
            </a:r>
            <a:endParaRPr b="1" sz="3600">
              <a:solidFill>
                <a:srgbClr val="073763"/>
              </a:solidFill>
            </a:endParaRPr>
          </a:p>
        </p:txBody>
      </p:sp>
      <p:pic>
        <p:nvPicPr>
          <p:cNvPr id="111" name="Google Shape;111;p16" title="Screenshot 2025-12-15 at 7.03.36 PM.png"/>
          <p:cNvPicPr preferRelativeResize="0"/>
          <p:nvPr/>
        </p:nvPicPr>
        <p:blipFill>
          <a:blip r:embed="rId3">
            <a:alphaModFix/>
          </a:blip>
          <a:stretch>
            <a:fillRect/>
          </a:stretch>
        </p:blipFill>
        <p:spPr>
          <a:xfrm>
            <a:off x="443800" y="1411864"/>
            <a:ext cx="6793086" cy="3266886"/>
          </a:xfrm>
          <a:prstGeom prst="rect">
            <a:avLst/>
          </a:prstGeom>
          <a:noFill/>
          <a:ln cap="flat" cmpd="sng" w="9425">
            <a:solidFill>
              <a:srgbClr val="B4A7D6"/>
            </a:solidFill>
            <a:prstDash val="solid"/>
            <a:round/>
            <a:headEnd len="sm" w="sm" type="none"/>
            <a:tailEnd len="sm" w="sm" type="none"/>
          </a:ln>
          <a:effectLst>
            <a:outerShdw blurRad="56537" rotWithShape="0" algn="bl" dir="5400000" dist="18846">
              <a:srgbClr val="D9D2E9">
                <a:alpha val="50000"/>
              </a:srgbClr>
            </a:outerShdw>
          </a:effectLst>
        </p:spPr>
      </p:pic>
      <p:cxnSp>
        <p:nvCxnSpPr>
          <p:cNvPr id="112" name="Google Shape;112;p16"/>
          <p:cNvCxnSpPr/>
          <p:nvPr/>
        </p:nvCxnSpPr>
        <p:spPr>
          <a:xfrm flipH="1" rot="10800000">
            <a:off x="3575539" y="1551411"/>
            <a:ext cx="1449900" cy="10500"/>
          </a:xfrm>
          <a:prstGeom prst="straightConnector1">
            <a:avLst/>
          </a:prstGeom>
          <a:noFill/>
          <a:ln cap="flat" cmpd="sng" w="9425">
            <a:solidFill>
              <a:srgbClr val="073763"/>
            </a:solidFill>
            <a:prstDash val="solid"/>
            <a:round/>
            <a:headEnd len="med" w="med" type="none"/>
            <a:tailEnd len="med" w="med" type="triangle"/>
          </a:ln>
        </p:spPr>
      </p:cxnSp>
      <p:sp>
        <p:nvSpPr>
          <p:cNvPr id="113" name="Google Shape;113;p16"/>
          <p:cNvSpPr/>
          <p:nvPr/>
        </p:nvSpPr>
        <p:spPr>
          <a:xfrm>
            <a:off x="5076969" y="1277099"/>
            <a:ext cx="1956900" cy="393600"/>
          </a:xfrm>
          <a:prstGeom prst="roundRect">
            <a:avLst>
              <a:gd fmla="val 16667" name="adj"/>
            </a:avLst>
          </a:prstGeom>
          <a:solidFill>
            <a:srgbClr val="EFEFEF"/>
          </a:solidFill>
          <a:ln cap="flat" cmpd="sng" w="9425">
            <a:solidFill>
              <a:srgbClr val="D9D2E9"/>
            </a:solidFill>
            <a:prstDash val="solid"/>
            <a:round/>
            <a:headEnd len="sm" w="sm" type="none"/>
            <a:tailEnd len="sm" w="sm" type="none"/>
          </a:ln>
        </p:spPr>
        <p:txBody>
          <a:bodyPr anchorCtr="0" anchor="ctr" bIns="90450" lIns="90450" spcFirstLastPara="1" rIns="90450" wrap="square" tIns="90450">
            <a:noAutofit/>
          </a:bodyPr>
          <a:lstStyle/>
          <a:p>
            <a:pPr indent="0" lvl="0" marL="0" rtl="0" algn="l">
              <a:spcBef>
                <a:spcPts val="0"/>
              </a:spcBef>
              <a:spcAft>
                <a:spcPts val="0"/>
              </a:spcAft>
              <a:buNone/>
            </a:pPr>
            <a:r>
              <a:rPr lang="en" sz="1187">
                <a:solidFill>
                  <a:srgbClr val="073763"/>
                </a:solidFill>
              </a:rPr>
              <a:t>Isolated batch-level validation function</a:t>
            </a:r>
            <a:r>
              <a:rPr lang="en" sz="1187"/>
              <a:t> </a:t>
            </a:r>
            <a:endParaRPr sz="1187"/>
          </a:p>
        </p:txBody>
      </p:sp>
      <p:cxnSp>
        <p:nvCxnSpPr>
          <p:cNvPr id="114" name="Google Shape;114;p16"/>
          <p:cNvCxnSpPr/>
          <p:nvPr/>
        </p:nvCxnSpPr>
        <p:spPr>
          <a:xfrm flipH="1" rot="10800000">
            <a:off x="4662906" y="2069718"/>
            <a:ext cx="1449900" cy="10500"/>
          </a:xfrm>
          <a:prstGeom prst="straightConnector1">
            <a:avLst/>
          </a:prstGeom>
          <a:noFill/>
          <a:ln cap="flat" cmpd="sng" w="9425">
            <a:solidFill>
              <a:srgbClr val="073763"/>
            </a:solidFill>
            <a:prstDash val="solid"/>
            <a:round/>
            <a:headEnd len="med" w="med" type="none"/>
            <a:tailEnd len="med" w="med" type="triangle"/>
          </a:ln>
        </p:spPr>
      </p:cxnSp>
      <p:sp>
        <p:nvSpPr>
          <p:cNvPr id="115" name="Google Shape;115;p16"/>
          <p:cNvSpPr/>
          <p:nvPr/>
        </p:nvSpPr>
        <p:spPr>
          <a:xfrm>
            <a:off x="6159686" y="1945602"/>
            <a:ext cx="1956900" cy="393600"/>
          </a:xfrm>
          <a:prstGeom prst="roundRect">
            <a:avLst>
              <a:gd fmla="val 16667" name="adj"/>
            </a:avLst>
          </a:prstGeom>
          <a:solidFill>
            <a:srgbClr val="EFEFEF"/>
          </a:solidFill>
          <a:ln cap="flat" cmpd="sng" w="9425">
            <a:solidFill>
              <a:srgbClr val="D9D2E9"/>
            </a:solidFill>
            <a:prstDash val="solid"/>
            <a:round/>
            <a:headEnd len="sm" w="sm" type="none"/>
            <a:tailEnd len="sm" w="sm" type="none"/>
          </a:ln>
        </p:spPr>
        <p:txBody>
          <a:bodyPr anchorCtr="0" anchor="ctr" bIns="90450" lIns="90450" spcFirstLastPara="1" rIns="90450" wrap="square" tIns="90450">
            <a:noAutofit/>
          </a:bodyPr>
          <a:lstStyle/>
          <a:p>
            <a:pPr indent="0" lvl="0" marL="0" rtl="0" algn="l">
              <a:spcBef>
                <a:spcPts val="0"/>
              </a:spcBef>
              <a:spcAft>
                <a:spcPts val="0"/>
              </a:spcAft>
              <a:buNone/>
            </a:pPr>
            <a:r>
              <a:rPr lang="en" sz="1187">
                <a:solidFill>
                  <a:srgbClr val="073763"/>
                </a:solidFill>
              </a:rPr>
              <a:t>Applies validation rules &amp; aggregates failures </a:t>
            </a:r>
            <a:endParaRPr sz="1384"/>
          </a:p>
        </p:txBody>
      </p:sp>
      <p:cxnSp>
        <p:nvCxnSpPr>
          <p:cNvPr id="116" name="Google Shape;116;p16"/>
          <p:cNvCxnSpPr/>
          <p:nvPr/>
        </p:nvCxnSpPr>
        <p:spPr>
          <a:xfrm flipH="1" rot="10800000">
            <a:off x="4751545" y="2588024"/>
            <a:ext cx="1449900" cy="10500"/>
          </a:xfrm>
          <a:prstGeom prst="straightConnector1">
            <a:avLst/>
          </a:prstGeom>
          <a:noFill/>
          <a:ln cap="flat" cmpd="sng" w="9425">
            <a:solidFill>
              <a:srgbClr val="073763"/>
            </a:solidFill>
            <a:prstDash val="solid"/>
            <a:round/>
            <a:headEnd len="med" w="med" type="none"/>
            <a:tailEnd len="med" w="med" type="triangle"/>
          </a:ln>
        </p:spPr>
      </p:cxnSp>
      <p:sp>
        <p:nvSpPr>
          <p:cNvPr id="117" name="Google Shape;117;p16"/>
          <p:cNvSpPr/>
          <p:nvPr/>
        </p:nvSpPr>
        <p:spPr>
          <a:xfrm>
            <a:off x="6248326" y="2448426"/>
            <a:ext cx="1956900" cy="393600"/>
          </a:xfrm>
          <a:prstGeom prst="roundRect">
            <a:avLst>
              <a:gd fmla="val 16667" name="adj"/>
            </a:avLst>
          </a:prstGeom>
          <a:solidFill>
            <a:srgbClr val="EFEFEF"/>
          </a:solidFill>
          <a:ln cap="flat" cmpd="sng" w="9425">
            <a:solidFill>
              <a:srgbClr val="D9D2E9"/>
            </a:solidFill>
            <a:prstDash val="solid"/>
            <a:round/>
            <a:headEnd len="sm" w="sm" type="none"/>
            <a:tailEnd len="sm" w="sm" type="none"/>
          </a:ln>
        </p:spPr>
        <p:txBody>
          <a:bodyPr anchorCtr="0" anchor="ctr" bIns="90450" lIns="90450" spcFirstLastPara="1" rIns="90450" wrap="square" tIns="90450">
            <a:noAutofit/>
          </a:bodyPr>
          <a:lstStyle/>
          <a:p>
            <a:pPr indent="0" lvl="0" marL="0" rtl="0" algn="l">
              <a:spcBef>
                <a:spcPts val="0"/>
              </a:spcBef>
              <a:spcAft>
                <a:spcPts val="0"/>
              </a:spcAft>
              <a:buNone/>
            </a:pPr>
            <a:r>
              <a:rPr lang="en" sz="1187">
                <a:solidFill>
                  <a:srgbClr val="073763"/>
                </a:solidFill>
              </a:rPr>
              <a:t>Persists data quality metrics to Postgres</a:t>
            </a:r>
            <a:endParaRPr sz="1384"/>
          </a:p>
        </p:txBody>
      </p:sp>
      <p:cxnSp>
        <p:nvCxnSpPr>
          <p:cNvPr id="118" name="Google Shape;118;p16"/>
          <p:cNvCxnSpPr/>
          <p:nvPr/>
        </p:nvCxnSpPr>
        <p:spPr>
          <a:xfrm flipH="1" rot="10800000">
            <a:off x="3825431" y="4012409"/>
            <a:ext cx="1449900" cy="10500"/>
          </a:xfrm>
          <a:prstGeom prst="straightConnector1">
            <a:avLst/>
          </a:prstGeom>
          <a:noFill/>
          <a:ln cap="flat" cmpd="sng" w="9425">
            <a:solidFill>
              <a:srgbClr val="073763"/>
            </a:solidFill>
            <a:prstDash val="solid"/>
            <a:round/>
            <a:headEnd len="med" w="med" type="none"/>
            <a:tailEnd len="med" w="med" type="triangle"/>
          </a:ln>
        </p:spPr>
      </p:cxnSp>
      <p:sp>
        <p:nvSpPr>
          <p:cNvPr id="119" name="Google Shape;119;p16"/>
          <p:cNvSpPr/>
          <p:nvPr/>
        </p:nvSpPr>
        <p:spPr>
          <a:xfrm>
            <a:off x="5332549" y="3738220"/>
            <a:ext cx="2353800" cy="393600"/>
          </a:xfrm>
          <a:prstGeom prst="roundRect">
            <a:avLst>
              <a:gd fmla="val 16667" name="adj"/>
            </a:avLst>
          </a:prstGeom>
          <a:solidFill>
            <a:srgbClr val="EFEFEF"/>
          </a:solidFill>
          <a:ln cap="flat" cmpd="sng" w="9425">
            <a:solidFill>
              <a:srgbClr val="D9D2E9"/>
            </a:solidFill>
            <a:prstDash val="solid"/>
            <a:round/>
            <a:headEnd len="sm" w="sm" type="none"/>
            <a:tailEnd len="sm" w="sm" type="none"/>
          </a:ln>
        </p:spPr>
        <p:txBody>
          <a:bodyPr anchorCtr="0" anchor="ctr" bIns="90450" lIns="90450" spcFirstLastPara="1" rIns="90450" wrap="square" tIns="90450">
            <a:noAutofit/>
          </a:bodyPr>
          <a:lstStyle/>
          <a:p>
            <a:pPr indent="0" lvl="0" marL="0" rtl="0" algn="l">
              <a:spcBef>
                <a:spcPts val="0"/>
              </a:spcBef>
              <a:spcAft>
                <a:spcPts val="0"/>
              </a:spcAft>
              <a:buNone/>
            </a:pPr>
            <a:r>
              <a:rPr lang="en" sz="1187">
                <a:solidFill>
                  <a:srgbClr val="073763"/>
                </a:solidFill>
              </a:rPr>
              <a:t>Runs data quality validation once per micro-batch</a:t>
            </a:r>
            <a:endParaRPr sz="1384"/>
          </a:p>
        </p:txBody>
      </p:sp>
      <p:sp>
        <p:nvSpPr>
          <p:cNvPr id="120" name="Google Shape;120;p16"/>
          <p:cNvSpPr/>
          <p:nvPr/>
        </p:nvSpPr>
        <p:spPr>
          <a:xfrm>
            <a:off x="6560196" y="4230607"/>
            <a:ext cx="2138400" cy="393600"/>
          </a:xfrm>
          <a:prstGeom prst="roundRect">
            <a:avLst>
              <a:gd fmla="val 16667" name="adj"/>
            </a:avLst>
          </a:prstGeom>
          <a:solidFill>
            <a:srgbClr val="EFEFEF"/>
          </a:solidFill>
          <a:ln cap="flat" cmpd="sng" w="9425">
            <a:solidFill>
              <a:srgbClr val="D9D2E9"/>
            </a:solidFill>
            <a:prstDash val="solid"/>
            <a:round/>
            <a:headEnd len="sm" w="sm" type="none"/>
            <a:tailEnd len="sm" w="sm" type="none"/>
          </a:ln>
        </p:spPr>
        <p:txBody>
          <a:bodyPr anchorCtr="0" anchor="ctr" bIns="90450" lIns="90450" spcFirstLastPara="1" rIns="90450" wrap="square" tIns="90450">
            <a:noAutofit/>
          </a:bodyPr>
          <a:lstStyle/>
          <a:p>
            <a:pPr indent="0" lvl="0" marL="0" rtl="0" algn="l">
              <a:spcBef>
                <a:spcPts val="0"/>
              </a:spcBef>
              <a:spcAft>
                <a:spcPts val="0"/>
              </a:spcAft>
              <a:buNone/>
            </a:pPr>
            <a:r>
              <a:rPr lang="en" sz="1187">
                <a:solidFill>
                  <a:srgbClr val="073763"/>
                </a:solidFill>
              </a:rPr>
              <a:t>Continuous monitoring with fixed reporting </a:t>
            </a:r>
            <a:r>
              <a:rPr lang="en" sz="1187">
                <a:solidFill>
                  <a:srgbClr val="073763"/>
                </a:solidFill>
              </a:rPr>
              <a:t>interval</a:t>
            </a:r>
            <a:r>
              <a:rPr lang="en" sz="1187">
                <a:solidFill>
                  <a:srgbClr val="073763"/>
                </a:solidFill>
              </a:rPr>
              <a:t>  </a:t>
            </a:r>
            <a:endParaRPr sz="1384"/>
          </a:p>
        </p:txBody>
      </p:sp>
      <p:cxnSp>
        <p:nvCxnSpPr>
          <p:cNvPr id="121" name="Google Shape;121;p16"/>
          <p:cNvCxnSpPr/>
          <p:nvPr/>
        </p:nvCxnSpPr>
        <p:spPr>
          <a:xfrm flipH="1" rot="10800000">
            <a:off x="5332549" y="4342814"/>
            <a:ext cx="1185600" cy="4800"/>
          </a:xfrm>
          <a:prstGeom prst="straightConnector1">
            <a:avLst/>
          </a:prstGeom>
          <a:noFill/>
          <a:ln cap="flat" cmpd="sng" w="9425">
            <a:solidFill>
              <a:srgbClr val="073763"/>
            </a:solidFill>
            <a:prstDash val="solid"/>
            <a:round/>
            <a:headEnd len="med" w="med" type="none"/>
            <a:tailEnd len="med" w="med" type="triangle"/>
          </a:ln>
        </p:spPr>
      </p:cxnSp>
      <p:sp>
        <p:nvSpPr>
          <p:cNvPr id="122" name="Google Shape;122;p16"/>
          <p:cNvSpPr txBox="1"/>
          <p:nvPr/>
        </p:nvSpPr>
        <p:spPr>
          <a:xfrm>
            <a:off x="391487" y="801425"/>
            <a:ext cx="4835700" cy="375000"/>
          </a:xfrm>
          <a:prstGeom prst="rect">
            <a:avLst/>
          </a:prstGeom>
          <a:noFill/>
          <a:ln>
            <a:noFill/>
          </a:ln>
        </p:spPr>
        <p:txBody>
          <a:bodyPr anchorCtr="0" anchor="t" bIns="90450" lIns="90450" spcFirstLastPara="1" rIns="90450" wrap="square" tIns="90450">
            <a:noAutofit/>
          </a:bodyPr>
          <a:lstStyle/>
          <a:p>
            <a:pPr indent="0" lvl="0" marL="0" rtl="0" algn="l">
              <a:spcBef>
                <a:spcPts val="0"/>
              </a:spcBef>
              <a:spcAft>
                <a:spcPts val="0"/>
              </a:spcAft>
              <a:buNone/>
            </a:pPr>
            <a:r>
              <a:rPr b="1" lang="en" sz="1187">
                <a:solidFill>
                  <a:srgbClr val="20124D"/>
                </a:solidFill>
              </a:rPr>
              <a:t>Micro-batch Data Quality Monitoring </a:t>
            </a:r>
            <a:r>
              <a:rPr lang="en" sz="989">
                <a:solidFill>
                  <a:srgbClr val="20124D"/>
                </a:solidFill>
              </a:rPr>
              <a:t>(Spark foreachbatch → Postgres)</a:t>
            </a:r>
            <a:endParaRPr sz="989">
              <a:solidFill>
                <a:srgbClr val="20124D"/>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7"/>
          <p:cNvSpPr txBox="1"/>
          <p:nvPr>
            <p:ph type="title"/>
          </p:nvPr>
        </p:nvSpPr>
        <p:spPr>
          <a:xfrm>
            <a:off x="311700" y="128016"/>
            <a:ext cx="85206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b="1" lang="en" sz="3600">
                <a:solidFill>
                  <a:srgbClr val="073763"/>
                </a:solidFill>
              </a:rPr>
              <a:t>Lessons Learned </a:t>
            </a:r>
            <a:endParaRPr b="1" sz="3600">
              <a:solidFill>
                <a:srgbClr val="073763"/>
              </a:solidFill>
            </a:endParaRPr>
          </a:p>
        </p:txBody>
      </p:sp>
      <p:pic>
        <p:nvPicPr>
          <p:cNvPr id="128" name="Google Shape;128;p17" title="lessons-learned-icon-represented-by-260nw-2612147785-removebg-preview.png"/>
          <p:cNvPicPr preferRelativeResize="0"/>
          <p:nvPr/>
        </p:nvPicPr>
        <p:blipFill rotWithShape="1">
          <a:blip r:embed="rId3">
            <a:alphaModFix/>
          </a:blip>
          <a:srcRect b="12775" l="27246" r="50001" t="18872"/>
          <a:stretch/>
        </p:blipFill>
        <p:spPr>
          <a:xfrm>
            <a:off x="7505891" y="1062556"/>
            <a:ext cx="1147760" cy="1236100"/>
          </a:xfrm>
          <a:prstGeom prst="rect">
            <a:avLst/>
          </a:prstGeom>
          <a:noFill/>
          <a:ln>
            <a:noFill/>
          </a:ln>
        </p:spPr>
      </p:pic>
      <p:sp>
        <p:nvSpPr>
          <p:cNvPr id="129" name="Google Shape;129;p17"/>
          <p:cNvSpPr txBox="1"/>
          <p:nvPr/>
        </p:nvSpPr>
        <p:spPr>
          <a:xfrm>
            <a:off x="490338" y="853925"/>
            <a:ext cx="7149600" cy="3948300"/>
          </a:xfrm>
          <a:prstGeom prst="rect">
            <a:avLst/>
          </a:prstGeom>
          <a:noFill/>
          <a:ln>
            <a:noFill/>
          </a:ln>
        </p:spPr>
        <p:txBody>
          <a:bodyPr anchorCtr="0" anchor="t" bIns="89100" lIns="89100" spcFirstLastPara="1" rIns="89100" wrap="square" tIns="89100">
            <a:noAutofit/>
          </a:bodyPr>
          <a:lstStyle/>
          <a:p>
            <a:pPr indent="-225687" lvl="0" marL="222774" rtl="0" algn="l">
              <a:lnSpc>
                <a:spcPct val="130000"/>
              </a:lnSpc>
              <a:spcBef>
                <a:spcPts val="0"/>
              </a:spcBef>
              <a:spcAft>
                <a:spcPts val="0"/>
              </a:spcAft>
              <a:buClr>
                <a:srgbClr val="20124D"/>
              </a:buClr>
              <a:buSzPts val="1800"/>
              <a:buChar char="●"/>
            </a:pPr>
            <a:r>
              <a:rPr b="1" lang="en" sz="2400">
                <a:solidFill>
                  <a:srgbClr val="20124D"/>
                </a:solidFill>
              </a:rPr>
              <a:t>Challenges:</a:t>
            </a:r>
            <a:r>
              <a:rPr lang="en" sz="2400">
                <a:solidFill>
                  <a:srgbClr val="20124D"/>
                </a:solidFill>
              </a:rPr>
              <a:t> Debugging across pods needed oc logs.</a:t>
            </a:r>
            <a:endParaRPr sz="2400">
              <a:solidFill>
                <a:srgbClr val="20124D"/>
              </a:solidFill>
            </a:endParaRPr>
          </a:p>
          <a:p>
            <a:pPr indent="-225687" lvl="0" marL="222774" rtl="0" algn="l">
              <a:lnSpc>
                <a:spcPct val="130000"/>
              </a:lnSpc>
              <a:spcBef>
                <a:spcPts val="0"/>
              </a:spcBef>
              <a:spcAft>
                <a:spcPts val="0"/>
              </a:spcAft>
              <a:buClr>
                <a:srgbClr val="20124D"/>
              </a:buClr>
              <a:buSzPts val="1800"/>
              <a:buChar char="●"/>
            </a:pPr>
            <a:r>
              <a:rPr b="1" lang="en" sz="2400">
                <a:solidFill>
                  <a:srgbClr val="20124D"/>
                </a:solidFill>
              </a:rPr>
              <a:t>If starting over:</a:t>
            </a:r>
            <a:r>
              <a:rPr lang="en" sz="2400">
                <a:solidFill>
                  <a:srgbClr val="20124D"/>
                </a:solidFill>
              </a:rPr>
              <a:t> Freeze schema + topic contracts early (event_type + required fields).</a:t>
            </a:r>
            <a:endParaRPr sz="2400">
              <a:solidFill>
                <a:srgbClr val="20124D"/>
              </a:solidFill>
            </a:endParaRPr>
          </a:p>
          <a:p>
            <a:pPr indent="-225687" lvl="0" marL="222774" rtl="0" algn="l">
              <a:lnSpc>
                <a:spcPct val="130000"/>
              </a:lnSpc>
              <a:spcBef>
                <a:spcPts val="0"/>
              </a:spcBef>
              <a:spcAft>
                <a:spcPts val="0"/>
              </a:spcAft>
              <a:buClr>
                <a:srgbClr val="20124D"/>
              </a:buClr>
              <a:buSzPts val="1800"/>
              <a:buChar char="●"/>
            </a:pPr>
            <a:r>
              <a:rPr b="1" lang="en" sz="2400">
                <a:solidFill>
                  <a:srgbClr val="20124D"/>
                </a:solidFill>
              </a:rPr>
              <a:t>Given more time:</a:t>
            </a:r>
            <a:r>
              <a:rPr lang="en" sz="2400">
                <a:solidFill>
                  <a:srgbClr val="20124D"/>
                </a:solidFill>
              </a:rPr>
              <a:t> Add validation, error handling, and lag + DB write metrics.</a:t>
            </a:r>
            <a:endParaRPr sz="2400">
              <a:solidFill>
                <a:srgbClr val="20124D"/>
              </a:solidFill>
            </a:endParaRPr>
          </a:p>
          <a:p>
            <a:pPr indent="-225687" lvl="0" marL="222774" rtl="0" algn="l">
              <a:lnSpc>
                <a:spcPct val="130000"/>
              </a:lnSpc>
              <a:spcBef>
                <a:spcPts val="0"/>
              </a:spcBef>
              <a:spcAft>
                <a:spcPts val="0"/>
              </a:spcAft>
              <a:buClr>
                <a:srgbClr val="20124D"/>
              </a:buClr>
              <a:buSzPts val="1800"/>
              <a:buChar char="●"/>
            </a:pPr>
            <a:r>
              <a:rPr b="1" lang="en" sz="2400">
                <a:solidFill>
                  <a:srgbClr val="20124D"/>
                </a:solidFill>
              </a:rPr>
              <a:t>Recommendation:</a:t>
            </a:r>
            <a:r>
              <a:rPr lang="en" sz="2400">
                <a:solidFill>
                  <a:srgbClr val="20124D"/>
                </a:solidFill>
              </a:rPr>
              <a:t> Replay + trace_id for debuggable, resilient streaming.</a:t>
            </a:r>
            <a:endParaRPr sz="2400">
              <a:solidFill>
                <a:srgbClr val="20124D"/>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8"/>
          <p:cNvSpPr txBox="1"/>
          <p:nvPr>
            <p:ph type="title"/>
          </p:nvPr>
        </p:nvSpPr>
        <p:spPr>
          <a:xfrm>
            <a:off x="310896" y="128016"/>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ts val="891"/>
              <a:buFont typeface="Arial"/>
              <a:buNone/>
            </a:pPr>
            <a:r>
              <a:rPr b="1" lang="en" sz="4000">
                <a:solidFill>
                  <a:srgbClr val="073763"/>
                </a:solidFill>
              </a:rPr>
              <a:t>Gen AI</a:t>
            </a:r>
            <a:endParaRPr b="1" sz="4000">
              <a:solidFill>
                <a:srgbClr val="073763"/>
              </a:solidFill>
            </a:endParaRPr>
          </a:p>
          <a:p>
            <a:pPr indent="0" lvl="0" marL="0" rtl="0" algn="l">
              <a:spcBef>
                <a:spcPts val="0"/>
              </a:spcBef>
              <a:spcAft>
                <a:spcPts val="0"/>
              </a:spcAft>
              <a:buNone/>
            </a:pPr>
            <a:r>
              <a:t/>
            </a:r>
            <a:endParaRPr/>
          </a:p>
        </p:txBody>
      </p:sp>
      <p:sp>
        <p:nvSpPr>
          <p:cNvPr id="135" name="Google Shape;135;p18"/>
          <p:cNvSpPr txBox="1"/>
          <p:nvPr>
            <p:ph idx="1" type="body"/>
          </p:nvPr>
        </p:nvSpPr>
        <p:spPr>
          <a:xfrm>
            <a:off x="460500" y="1133875"/>
            <a:ext cx="7208400" cy="3416400"/>
          </a:xfrm>
          <a:prstGeom prst="rect">
            <a:avLst/>
          </a:prstGeom>
        </p:spPr>
        <p:txBody>
          <a:bodyPr anchorCtr="0" anchor="t" bIns="91425" lIns="91425" spcFirstLastPara="1" rIns="91425" wrap="square" tIns="91425">
            <a:normAutofit lnSpcReduction="20000"/>
          </a:bodyPr>
          <a:lstStyle/>
          <a:p>
            <a:pPr indent="-225687" lvl="0" marL="222774" rtl="0" algn="l">
              <a:spcBef>
                <a:spcPts val="0"/>
              </a:spcBef>
              <a:spcAft>
                <a:spcPts val="0"/>
              </a:spcAft>
              <a:buClr>
                <a:srgbClr val="20124D"/>
              </a:buClr>
              <a:buSzPts val="1800"/>
              <a:buChar char="●"/>
            </a:pPr>
            <a:r>
              <a:rPr b="1" lang="en" sz="2400">
                <a:solidFill>
                  <a:srgbClr val="20124D"/>
                </a:solidFill>
              </a:rPr>
              <a:t>Used for learning/debugging:</a:t>
            </a:r>
            <a:r>
              <a:rPr lang="en" sz="2400">
                <a:solidFill>
                  <a:srgbClr val="20124D"/>
                </a:solidFill>
              </a:rPr>
              <a:t> Clarified Spark streaming concepts and helped interpret error logs; we validated by rerunning in OpenShift.</a:t>
            </a:r>
            <a:endParaRPr sz="2400">
              <a:solidFill>
                <a:srgbClr val="20124D"/>
              </a:solidFill>
            </a:endParaRPr>
          </a:p>
          <a:p>
            <a:pPr indent="-225687" lvl="0" marL="222774" rtl="0" algn="l">
              <a:spcBef>
                <a:spcPts val="0"/>
              </a:spcBef>
              <a:spcAft>
                <a:spcPts val="0"/>
              </a:spcAft>
              <a:buClr>
                <a:srgbClr val="20124D"/>
              </a:buClr>
              <a:buSzPts val="1800"/>
              <a:buChar char="●"/>
            </a:pPr>
            <a:r>
              <a:rPr b="1" lang="en" sz="2400">
                <a:solidFill>
                  <a:srgbClr val="20124D"/>
                </a:solidFill>
              </a:rPr>
              <a:t>Most helpful:</a:t>
            </a:r>
            <a:r>
              <a:rPr lang="en" sz="2400">
                <a:solidFill>
                  <a:srgbClr val="20124D"/>
                </a:solidFill>
              </a:rPr>
              <a:t> Converting log messages into a checklist (config, schema, permissions, resources).</a:t>
            </a:r>
            <a:endParaRPr sz="2400">
              <a:solidFill>
                <a:srgbClr val="20124D"/>
              </a:solidFill>
            </a:endParaRPr>
          </a:p>
          <a:p>
            <a:pPr indent="-225687" lvl="0" marL="222774" rtl="0" algn="l">
              <a:spcBef>
                <a:spcPts val="0"/>
              </a:spcBef>
              <a:spcAft>
                <a:spcPts val="0"/>
              </a:spcAft>
              <a:buClr>
                <a:srgbClr val="20124D"/>
              </a:buClr>
              <a:buSzPts val="1800"/>
              <a:buChar char="●"/>
            </a:pPr>
            <a:r>
              <a:rPr b="1" lang="en" sz="2400">
                <a:solidFill>
                  <a:srgbClr val="20124D"/>
                </a:solidFill>
              </a:rPr>
              <a:t>Limits:</a:t>
            </a:r>
            <a:r>
              <a:rPr lang="en" sz="2400">
                <a:solidFill>
                  <a:srgbClr val="20124D"/>
                </a:solidFill>
              </a:rPr>
              <a:t> Couldn’t know our cluster/YAML/quota setup—final fixes came from oc describe, pod logs, and config edits.</a:t>
            </a:r>
            <a:endParaRPr sz="2400"/>
          </a:p>
        </p:txBody>
      </p:sp>
      <p:pic>
        <p:nvPicPr>
          <p:cNvPr id="136" name="Google Shape;136;p18" title="download-removebg-preview.png"/>
          <p:cNvPicPr preferRelativeResize="0"/>
          <p:nvPr/>
        </p:nvPicPr>
        <p:blipFill rotWithShape="1">
          <a:blip r:embed="rId3">
            <a:alphaModFix/>
          </a:blip>
          <a:srcRect b="9560" l="9860" r="9643" t="9560"/>
          <a:stretch/>
        </p:blipFill>
        <p:spPr>
          <a:xfrm>
            <a:off x="7436162" y="1017737"/>
            <a:ext cx="1029818" cy="102981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9"/>
          <p:cNvSpPr txBox="1"/>
          <p:nvPr>
            <p:ph type="title"/>
          </p:nvPr>
        </p:nvSpPr>
        <p:spPr>
          <a:xfrm>
            <a:off x="2209200" y="1801500"/>
            <a:ext cx="4725600" cy="1540500"/>
          </a:xfrm>
          <a:prstGeom prst="rect">
            <a:avLst/>
          </a:prstGeom>
        </p:spPr>
        <p:txBody>
          <a:bodyPr anchorCtr="0" anchor="ctr" bIns="91425" lIns="91425" spcFirstLastPara="1" rIns="91425" wrap="square" tIns="91425">
            <a:noAutofit/>
          </a:bodyPr>
          <a:lstStyle/>
          <a:p>
            <a:pPr indent="0" lvl="0" marL="0" rtl="0" algn="ctr">
              <a:lnSpc>
                <a:spcPct val="150000"/>
              </a:lnSpc>
              <a:spcBef>
                <a:spcPts val="1000"/>
              </a:spcBef>
              <a:spcAft>
                <a:spcPts val="0"/>
              </a:spcAft>
              <a:buSzPts val="990"/>
              <a:buNone/>
            </a:pPr>
            <a:r>
              <a:rPr b="1" lang="en" sz="3020">
                <a:solidFill>
                  <a:srgbClr val="073763"/>
                </a:solidFill>
              </a:rPr>
              <a:t>Thank You!</a:t>
            </a:r>
            <a:br>
              <a:rPr b="1" lang="en" sz="3220">
                <a:solidFill>
                  <a:srgbClr val="073763"/>
                </a:solidFill>
              </a:rPr>
            </a:br>
            <a:r>
              <a:rPr b="1" lang="en" sz="3020">
                <a:solidFill>
                  <a:srgbClr val="20124D"/>
                </a:solidFill>
              </a:rPr>
              <a:t>Q&amp;A</a:t>
            </a:r>
            <a:endParaRPr b="1" sz="3020">
              <a:solidFill>
                <a:srgbClr val="20124D"/>
              </a:solidFill>
            </a:endParaRPr>
          </a:p>
        </p:txBody>
      </p:sp>
      <p:cxnSp>
        <p:nvCxnSpPr>
          <p:cNvPr id="142" name="Google Shape;142;p19"/>
          <p:cNvCxnSpPr/>
          <p:nvPr/>
        </p:nvCxnSpPr>
        <p:spPr>
          <a:xfrm>
            <a:off x="3306450" y="2571750"/>
            <a:ext cx="2531100" cy="0"/>
          </a:xfrm>
          <a:prstGeom prst="straightConnector1">
            <a:avLst/>
          </a:prstGeom>
          <a:noFill/>
          <a:ln cap="flat" cmpd="sng" w="9525">
            <a:solidFill>
              <a:srgbClr val="351C75"/>
            </a:solidFill>
            <a:prstDash val="solid"/>
            <a:round/>
            <a:headEnd len="med" w="med" type="oval"/>
            <a:tailEnd len="med" w="med" type="oval"/>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